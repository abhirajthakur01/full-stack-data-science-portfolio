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7" r:id="rId12"/>
    <p:sldId id="268" r:id="rId13"/>
    <p:sldId id="269" r:id="rId14"/>
    <p:sldId id="270" r:id="rId15"/>
    <p:sldId id="271" r:id="rId16"/>
    <p:sldId id="272" r:id="rId17"/>
    <p:sldId id="273" r:id="rId18"/>
    <p:sldId id="274" r:id="rId19"/>
    <p:sldId id="275" r:id="rId20"/>
    <p:sldId id="266" r:id="rId21"/>
    <p:sldId id="277" r:id="rId22"/>
    <p:sldId id="278" r:id="rId23"/>
    <p:sldId id="279" r:id="rId24"/>
    <p:sldId id="280" r:id="rId25"/>
    <p:sldId id="281" r:id="rId26"/>
    <p:sldId id="284" r:id="rId27"/>
    <p:sldId id="283" r:id="rId28"/>
    <p:sldId id="285" r:id="rId29"/>
    <p:sldId id="286"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798" y="-96"/>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24914B57-1723-4FB2-A4CC-E0871CA00C04}" type="datetimeFigureOut">
              <a:rPr lang="en-US" smtClean="0"/>
              <a:pPr/>
              <a:t>10/15/2024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51B493-96B6-4C90-9D50-791A4D6993C1}" type="slidenum">
              <a:rPr lang="en-US" smtClean="0"/>
              <a:pPr/>
              <a:t>‹#›</a:t>
            </a:fld>
            <a:endParaRPr lang="en-US"/>
          </a:p>
        </p:txBody>
      </p:sp>
    </p:spTree>
    <p:extLst>
      <p:ext uri="{BB962C8B-B14F-4D97-AF65-F5344CB8AC3E}">
        <p14:creationId xmlns:p14="http://schemas.microsoft.com/office/powerpoint/2010/main" xmlns="" val="7552651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4914B57-1723-4FB2-A4CC-E0871CA00C04}" type="datetimeFigureOut">
              <a:rPr lang="en-US" smtClean="0"/>
              <a:pPr/>
              <a:t>10/15/2024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51B493-96B6-4C90-9D50-791A4D6993C1}" type="slidenum">
              <a:rPr lang="en-US" smtClean="0"/>
              <a:pPr/>
              <a:t>‹#›</a:t>
            </a:fld>
            <a:endParaRPr lang="en-US"/>
          </a:p>
        </p:txBody>
      </p:sp>
    </p:spTree>
    <p:extLst>
      <p:ext uri="{BB962C8B-B14F-4D97-AF65-F5344CB8AC3E}">
        <p14:creationId xmlns:p14="http://schemas.microsoft.com/office/powerpoint/2010/main" xmlns="" val="32535420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4914B57-1723-4FB2-A4CC-E0871CA00C04}" type="datetimeFigureOut">
              <a:rPr lang="en-US" smtClean="0"/>
              <a:pPr/>
              <a:t>10/15/2024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51B493-96B6-4C90-9D50-791A4D6993C1}" type="slidenum">
              <a:rPr lang="en-US" smtClean="0"/>
              <a:pPr/>
              <a:t>‹#›</a:t>
            </a:fld>
            <a:endParaRPr lang="en-US"/>
          </a:p>
        </p:txBody>
      </p:sp>
    </p:spTree>
    <p:extLst>
      <p:ext uri="{BB962C8B-B14F-4D97-AF65-F5344CB8AC3E}">
        <p14:creationId xmlns:p14="http://schemas.microsoft.com/office/powerpoint/2010/main" xmlns="" val="39637975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24914B57-1723-4FB2-A4CC-E0871CA00C04}" type="datetimeFigureOut">
              <a:rPr lang="en-US" smtClean="0"/>
              <a:pPr/>
              <a:t>10/15/2024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51B493-96B6-4C90-9D50-791A4D6993C1}" type="slidenum">
              <a:rPr lang="en-US" smtClean="0"/>
              <a:pPr/>
              <a:t>‹#›</a:t>
            </a:fld>
            <a:endParaRPr lang="en-US"/>
          </a:p>
        </p:txBody>
      </p:sp>
    </p:spTree>
    <p:extLst>
      <p:ext uri="{BB962C8B-B14F-4D97-AF65-F5344CB8AC3E}">
        <p14:creationId xmlns:p14="http://schemas.microsoft.com/office/powerpoint/2010/main" xmlns="" val="18901748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24914B57-1723-4FB2-A4CC-E0871CA00C04}" type="datetimeFigureOut">
              <a:rPr lang="en-US" smtClean="0"/>
              <a:pPr/>
              <a:t>10/15/2024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A51B493-96B6-4C90-9D50-791A4D6993C1}" type="slidenum">
              <a:rPr lang="en-US" smtClean="0"/>
              <a:pPr/>
              <a:t>‹#›</a:t>
            </a:fld>
            <a:endParaRPr lang="en-US"/>
          </a:p>
        </p:txBody>
      </p:sp>
    </p:spTree>
    <p:extLst>
      <p:ext uri="{BB962C8B-B14F-4D97-AF65-F5344CB8AC3E}">
        <p14:creationId xmlns:p14="http://schemas.microsoft.com/office/powerpoint/2010/main" xmlns="" val="577964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24914B57-1723-4FB2-A4CC-E0871CA00C04}" type="datetimeFigureOut">
              <a:rPr lang="en-US" smtClean="0"/>
              <a:pPr/>
              <a:t>10/15/2024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A51B493-96B6-4C90-9D50-791A4D6993C1}" type="slidenum">
              <a:rPr lang="en-US" smtClean="0"/>
              <a:pPr/>
              <a:t>‹#›</a:t>
            </a:fld>
            <a:endParaRPr lang="en-US"/>
          </a:p>
        </p:txBody>
      </p:sp>
    </p:spTree>
    <p:extLst>
      <p:ext uri="{BB962C8B-B14F-4D97-AF65-F5344CB8AC3E}">
        <p14:creationId xmlns:p14="http://schemas.microsoft.com/office/powerpoint/2010/main" xmlns="" val="8878484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914B57-1723-4FB2-A4CC-E0871CA00C04}" type="datetimeFigureOut">
              <a:rPr lang="en-US" smtClean="0"/>
              <a:pPr/>
              <a:t>10/15/2024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A51B493-96B6-4C90-9D50-791A4D6993C1}" type="slidenum">
              <a:rPr lang="en-US" smtClean="0"/>
              <a:pPr/>
              <a:t>‹#›</a:t>
            </a:fld>
            <a:endParaRPr lang="en-US"/>
          </a:p>
        </p:txBody>
      </p:sp>
    </p:spTree>
    <p:extLst>
      <p:ext uri="{BB962C8B-B14F-4D97-AF65-F5344CB8AC3E}">
        <p14:creationId xmlns:p14="http://schemas.microsoft.com/office/powerpoint/2010/main" xmlns="" val="3741630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4914B57-1723-4FB2-A4CC-E0871CA00C04}" type="datetimeFigureOut">
              <a:rPr lang="en-US" smtClean="0"/>
              <a:pPr/>
              <a:t>10/15/2024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51B493-96B6-4C90-9D50-791A4D6993C1}" type="slidenum">
              <a:rPr lang="en-US" smtClean="0"/>
              <a:pPr/>
              <a:t>‹#›</a:t>
            </a:fld>
            <a:endParaRPr lang="en-US"/>
          </a:p>
        </p:txBody>
      </p:sp>
    </p:spTree>
    <p:extLst>
      <p:ext uri="{BB962C8B-B14F-4D97-AF65-F5344CB8AC3E}">
        <p14:creationId xmlns:p14="http://schemas.microsoft.com/office/powerpoint/2010/main" xmlns="" val="29994574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4914B57-1723-4FB2-A4CC-E0871CA00C04}" type="datetimeFigureOut">
              <a:rPr lang="en-US" smtClean="0"/>
              <a:pPr/>
              <a:t>10/15/2024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51B493-96B6-4C90-9D50-791A4D6993C1}" type="slidenum">
              <a:rPr lang="en-US" smtClean="0"/>
              <a:pPr/>
              <a:t>‹#›</a:t>
            </a:fld>
            <a:endParaRPr lang="en-US"/>
          </a:p>
        </p:txBody>
      </p:sp>
    </p:spTree>
    <p:extLst>
      <p:ext uri="{BB962C8B-B14F-4D97-AF65-F5344CB8AC3E}">
        <p14:creationId xmlns:p14="http://schemas.microsoft.com/office/powerpoint/2010/main" xmlns="" val="21726749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4914B57-1723-4FB2-A4CC-E0871CA00C04}" type="datetimeFigureOut">
              <a:rPr lang="en-US" smtClean="0"/>
              <a:pPr/>
              <a:t>10/15/2024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51B493-96B6-4C90-9D50-791A4D6993C1}" type="slidenum">
              <a:rPr lang="en-US" smtClean="0"/>
              <a:pPr/>
              <a:t>‹#›</a:t>
            </a:fld>
            <a:endParaRPr lang="en-US"/>
          </a:p>
        </p:txBody>
      </p:sp>
    </p:spTree>
    <p:extLst>
      <p:ext uri="{BB962C8B-B14F-4D97-AF65-F5344CB8AC3E}">
        <p14:creationId xmlns:p14="http://schemas.microsoft.com/office/powerpoint/2010/main" xmlns="" val="2827868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4914B57-1723-4FB2-A4CC-E0871CA00C04}" type="datetimeFigureOut">
              <a:rPr lang="en-US" smtClean="0"/>
              <a:pPr/>
              <a:t>10/15/2024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51B493-96B6-4C90-9D50-791A4D6993C1}" type="slidenum">
              <a:rPr lang="en-US" smtClean="0"/>
              <a:pPr/>
              <a:t>‹#›</a:t>
            </a:fld>
            <a:endParaRPr lang="en-US"/>
          </a:p>
        </p:txBody>
      </p:sp>
    </p:spTree>
    <p:extLst>
      <p:ext uri="{BB962C8B-B14F-4D97-AF65-F5344CB8AC3E}">
        <p14:creationId xmlns:p14="http://schemas.microsoft.com/office/powerpoint/2010/main" xmlns="" val="8406381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4914B57-1723-4FB2-A4CC-E0871CA00C04}" type="datetimeFigureOut">
              <a:rPr lang="en-US" smtClean="0"/>
              <a:pPr/>
              <a:t>10/15/2024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A51B493-96B6-4C90-9D50-791A4D6993C1}" type="slidenum">
              <a:rPr lang="en-US" smtClean="0"/>
              <a:pPr/>
              <a:t>‹#›</a:t>
            </a:fld>
            <a:endParaRPr lang="en-US"/>
          </a:p>
        </p:txBody>
      </p:sp>
    </p:spTree>
    <p:extLst>
      <p:ext uri="{BB962C8B-B14F-4D97-AF65-F5344CB8AC3E}">
        <p14:creationId xmlns:p14="http://schemas.microsoft.com/office/powerpoint/2010/main" xmlns="" val="41061636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hyperlink" Target="https://en.wikipedia.org/wiki/Comma-separated_values" TargetMode="Externa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hyperlink" Target="https://pynative.com/python-range-function/" TargetMode="Externa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95617" y="99283"/>
            <a:ext cx="11855355" cy="1692771"/>
          </a:xfrm>
          <a:prstGeom prst="rect">
            <a:avLst/>
          </a:prstGeom>
        </p:spPr>
        <p:txBody>
          <a:bodyPr wrap="square">
            <a:spAutoFit/>
          </a:bodyPr>
          <a:lstStyle/>
          <a:p>
            <a:r>
              <a:rPr lang="en-US" sz="3200" b="1" i="0" dirty="0" smtClean="0">
                <a:solidFill>
                  <a:srgbClr val="1C2B41"/>
                </a:solidFill>
                <a:effectLst/>
                <a:latin typeface="Inter-Bold"/>
              </a:rPr>
              <a:t>What is </a:t>
            </a:r>
            <a:r>
              <a:rPr lang="en-US" sz="3200" b="1" i="0" dirty="0" err="1" smtClean="0">
                <a:solidFill>
                  <a:srgbClr val="1C2B41"/>
                </a:solidFill>
                <a:effectLst/>
                <a:latin typeface="Inter-Bold"/>
              </a:rPr>
              <a:t>DataFrame</a:t>
            </a:r>
            <a:r>
              <a:rPr lang="en-US" sz="3200" b="1" i="0" dirty="0" smtClean="0">
                <a:solidFill>
                  <a:srgbClr val="1C2B41"/>
                </a:solidFill>
                <a:effectLst/>
                <a:latin typeface="Inter-Bold"/>
              </a:rPr>
              <a:t> in Pandas</a:t>
            </a:r>
          </a:p>
          <a:p>
            <a:pPr>
              <a:lnSpc>
                <a:spcPct val="150000"/>
              </a:lnSpc>
            </a:pPr>
            <a:r>
              <a:rPr lang="en-US" sz="2400" b="0" i="0" dirty="0" err="1" smtClean="0">
                <a:solidFill>
                  <a:srgbClr val="222222"/>
                </a:solidFill>
                <a:effectLst/>
                <a:latin typeface="Inter-Regular"/>
              </a:rPr>
              <a:t>Dataframe</a:t>
            </a:r>
            <a:r>
              <a:rPr lang="en-US" sz="2400" b="0" i="0" dirty="0" smtClean="0">
                <a:solidFill>
                  <a:srgbClr val="222222"/>
                </a:solidFill>
                <a:effectLst/>
                <a:latin typeface="Inter-Regular"/>
              </a:rPr>
              <a:t> is a tabular(rows, columns) representation of data. It is a two-dimensional data structure with potentially heterogeneous data.</a:t>
            </a:r>
            <a:endParaRPr lang="en-US" sz="2400" b="0" i="0" dirty="0">
              <a:solidFill>
                <a:srgbClr val="222222"/>
              </a:solidFill>
              <a:effectLst/>
              <a:latin typeface="Inter-Regular"/>
            </a:endParaRPr>
          </a:p>
        </p:txBody>
      </p:sp>
      <p:pic>
        <p:nvPicPr>
          <p:cNvPr id="5" name="Picture 4"/>
          <p:cNvPicPr>
            <a:picLocks noChangeAspect="1"/>
          </p:cNvPicPr>
          <p:nvPr/>
        </p:nvPicPr>
        <p:blipFill rotWithShape="1">
          <a:blip r:embed="rId2" cstate="print"/>
          <a:srcRect l="21295" t="33535" r="24476" b="9375"/>
          <a:stretch/>
        </p:blipFill>
        <p:spPr>
          <a:xfrm>
            <a:off x="955343" y="1774209"/>
            <a:ext cx="10440538" cy="4798206"/>
          </a:xfrm>
          <a:prstGeom prst="rect">
            <a:avLst/>
          </a:prstGeom>
        </p:spPr>
      </p:pic>
    </p:spTree>
    <p:extLst>
      <p:ext uri="{BB962C8B-B14F-4D97-AF65-F5344CB8AC3E}">
        <p14:creationId xmlns:p14="http://schemas.microsoft.com/office/powerpoint/2010/main" xmlns="" val="111609485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95617" y="99283"/>
            <a:ext cx="11855355" cy="1508105"/>
          </a:xfrm>
          <a:prstGeom prst="rect">
            <a:avLst/>
          </a:prstGeom>
        </p:spPr>
        <p:txBody>
          <a:bodyPr wrap="square">
            <a:spAutoFit/>
          </a:bodyPr>
          <a:lstStyle/>
          <a:p>
            <a:r>
              <a:rPr lang="en-US" sz="3200" b="1" dirty="0" err="1"/>
              <a:t>DataFrame</a:t>
            </a:r>
            <a:r>
              <a:rPr lang="en-US" sz="3200" b="1" dirty="0"/>
              <a:t> </a:t>
            </a:r>
            <a:r>
              <a:rPr lang="en-US" sz="3200" b="1" dirty="0" smtClean="0"/>
              <a:t>creation</a:t>
            </a:r>
          </a:p>
          <a:p>
            <a:pPr lvl="0" algn="just"/>
            <a:r>
              <a:rPr kumimoji="0" lang="en-US" sz="2000" b="0" i="0" u="none" strike="noStrike" cap="none" normalizeH="0" baseline="0" dirty="0" smtClean="0">
                <a:ln>
                  <a:noFill/>
                </a:ln>
                <a:solidFill>
                  <a:srgbClr val="222222"/>
                </a:solidFill>
                <a:effectLst/>
                <a:latin typeface="Inter-Regular"/>
              </a:rPr>
              <a:t>Data is available in various forms and types like Excel, CSV, SQL table, JSON, or Python structures like list, </a:t>
            </a:r>
            <a:r>
              <a:rPr kumimoji="0" lang="en-US" sz="2000" b="0" i="0" u="none" strike="noStrike" cap="none" normalizeH="0" baseline="0" dirty="0" err="1" smtClean="0">
                <a:ln>
                  <a:noFill/>
                </a:ln>
                <a:solidFill>
                  <a:srgbClr val="6C0B24"/>
                </a:solidFill>
                <a:effectLst/>
                <a:latin typeface="Consolas" panose="020B0609020204030204" pitchFamily="49" charset="0"/>
              </a:rPr>
              <a:t>dict</a:t>
            </a:r>
            <a:r>
              <a:rPr kumimoji="0" lang="en-US" sz="2000" b="0" i="0" u="none" strike="noStrike" cap="none" normalizeH="0" baseline="0" dirty="0" smtClean="0">
                <a:ln>
                  <a:noFill/>
                </a:ln>
                <a:solidFill>
                  <a:srgbClr val="222222"/>
                </a:solidFill>
                <a:effectLst/>
                <a:latin typeface="Inter-Regular"/>
              </a:rPr>
              <a:t> etc. We need to convert all such different data formats into a </a:t>
            </a:r>
            <a:r>
              <a:rPr kumimoji="0" lang="en-US" sz="2000" b="0" i="0" u="none" strike="noStrike" cap="none" normalizeH="0" baseline="0" dirty="0" err="1" smtClean="0">
                <a:ln>
                  <a:noFill/>
                </a:ln>
                <a:solidFill>
                  <a:srgbClr val="222222"/>
                </a:solidFill>
                <a:effectLst/>
                <a:latin typeface="Inter-Regular"/>
              </a:rPr>
              <a:t>DataFrame</a:t>
            </a:r>
            <a:r>
              <a:rPr kumimoji="0" lang="en-US" sz="2000" b="0" i="0" u="none" strike="noStrike" cap="none" normalizeH="0" baseline="0" dirty="0" smtClean="0">
                <a:ln>
                  <a:noFill/>
                </a:ln>
                <a:solidFill>
                  <a:srgbClr val="222222"/>
                </a:solidFill>
                <a:effectLst/>
                <a:latin typeface="Inter-Regular"/>
              </a:rPr>
              <a:t> so that we can use pandas libraries to analyze such data efficiently.</a:t>
            </a:r>
            <a:r>
              <a:rPr kumimoji="0" lang="en-US" sz="2000" b="0" i="0" u="none" strike="noStrike" cap="none" normalizeH="0" baseline="0" dirty="0" smtClean="0">
                <a:ln>
                  <a:noFill/>
                </a:ln>
                <a:solidFill>
                  <a:schemeClr val="tx1"/>
                </a:solidFill>
                <a:effectLst/>
              </a:rPr>
              <a:t> </a:t>
            </a:r>
            <a:endParaRPr kumimoji="0" lang="en-US" sz="2000" b="0" i="0" u="none" strike="noStrike" cap="none" normalizeH="0" baseline="0" dirty="0" smtClean="0">
              <a:ln>
                <a:noFill/>
              </a:ln>
              <a:solidFill>
                <a:schemeClr val="tx1"/>
              </a:solidFill>
              <a:effectLst/>
              <a:latin typeface="Arial" panose="020B0604020202020204" pitchFamily="34" charset="0"/>
            </a:endParaRPr>
          </a:p>
        </p:txBody>
      </p:sp>
      <p:sp>
        <p:nvSpPr>
          <p:cNvPr id="7" name="Rectangle 6"/>
          <p:cNvSpPr/>
          <p:nvPr/>
        </p:nvSpPr>
        <p:spPr>
          <a:xfrm>
            <a:off x="195617" y="1957400"/>
            <a:ext cx="11882652" cy="646331"/>
          </a:xfrm>
          <a:prstGeom prst="rect">
            <a:avLst/>
          </a:prstGeom>
        </p:spPr>
        <p:txBody>
          <a:bodyPr wrap="square">
            <a:spAutoFit/>
          </a:bodyPr>
          <a:lstStyle/>
          <a:p>
            <a:r>
              <a:rPr lang="en-US" b="0" i="0" dirty="0" smtClean="0">
                <a:solidFill>
                  <a:srgbClr val="222222"/>
                </a:solidFill>
                <a:effectLst/>
                <a:latin typeface="Inter-Regular"/>
              </a:rPr>
              <a:t>To create </a:t>
            </a:r>
            <a:r>
              <a:rPr lang="en-US" b="0" i="0" dirty="0" err="1" smtClean="0">
                <a:solidFill>
                  <a:srgbClr val="222222"/>
                </a:solidFill>
                <a:effectLst/>
                <a:latin typeface="Inter-Regular"/>
              </a:rPr>
              <a:t>DataFrame</a:t>
            </a:r>
            <a:r>
              <a:rPr lang="en-US" b="0" i="0" dirty="0" smtClean="0">
                <a:solidFill>
                  <a:srgbClr val="222222"/>
                </a:solidFill>
                <a:effectLst/>
                <a:latin typeface="Inter-Regular"/>
              </a:rPr>
              <a:t>, we can use either the </a:t>
            </a:r>
            <a:r>
              <a:rPr lang="en-US" b="0" i="0" dirty="0" err="1" smtClean="0">
                <a:solidFill>
                  <a:srgbClr val="222222"/>
                </a:solidFill>
                <a:effectLst/>
                <a:latin typeface="Inter-Regular"/>
              </a:rPr>
              <a:t>DataFrame</a:t>
            </a:r>
            <a:r>
              <a:rPr lang="en-US" b="0" i="0" dirty="0" smtClean="0">
                <a:solidFill>
                  <a:srgbClr val="222222"/>
                </a:solidFill>
                <a:effectLst/>
                <a:latin typeface="Inter-Regular"/>
              </a:rPr>
              <a:t> constructor or pandas’ built-in functions. Below are some examples.</a:t>
            </a:r>
            <a:endParaRPr lang="en-US" dirty="0"/>
          </a:p>
        </p:txBody>
      </p:sp>
      <p:pic>
        <p:nvPicPr>
          <p:cNvPr id="8" name="Picture 7"/>
          <p:cNvPicPr>
            <a:picLocks noChangeAspect="1"/>
          </p:cNvPicPr>
          <p:nvPr/>
        </p:nvPicPr>
        <p:blipFill rotWithShape="1">
          <a:blip r:embed="rId2" cstate="print"/>
          <a:srcRect l="20246" t="41185" r="25210" b="49487"/>
          <a:stretch/>
        </p:blipFill>
        <p:spPr>
          <a:xfrm>
            <a:off x="682387" y="3807725"/>
            <a:ext cx="11071055" cy="1064526"/>
          </a:xfrm>
          <a:prstGeom prst="rect">
            <a:avLst/>
          </a:prstGeom>
        </p:spPr>
      </p:pic>
      <p:sp>
        <p:nvSpPr>
          <p:cNvPr id="9" name="Rectangle 8"/>
          <p:cNvSpPr/>
          <p:nvPr/>
        </p:nvSpPr>
        <p:spPr>
          <a:xfrm>
            <a:off x="680703" y="3080561"/>
            <a:ext cx="2723823" cy="369332"/>
          </a:xfrm>
          <a:prstGeom prst="rect">
            <a:avLst/>
          </a:prstGeom>
        </p:spPr>
        <p:txBody>
          <a:bodyPr wrap="none">
            <a:spAutoFit/>
          </a:bodyPr>
          <a:lstStyle/>
          <a:p>
            <a:r>
              <a:rPr lang="en-US" b="1" i="0" dirty="0" err="1" smtClean="0">
                <a:solidFill>
                  <a:srgbClr val="1C2B41"/>
                </a:solidFill>
                <a:effectLst/>
                <a:latin typeface="Inter-Bold"/>
              </a:rPr>
              <a:t>DataFrame</a:t>
            </a:r>
            <a:r>
              <a:rPr lang="en-US" b="1" i="0" dirty="0" smtClean="0">
                <a:solidFill>
                  <a:srgbClr val="1C2B41"/>
                </a:solidFill>
                <a:effectLst/>
                <a:latin typeface="Inter-Bold"/>
              </a:rPr>
              <a:t> constructor</a:t>
            </a:r>
            <a:endParaRPr lang="en-US" b="1" i="0" dirty="0">
              <a:solidFill>
                <a:srgbClr val="1C2B41"/>
              </a:solidFill>
              <a:effectLst/>
              <a:latin typeface="Inter-Bold"/>
            </a:endParaRPr>
          </a:p>
        </p:txBody>
      </p:sp>
    </p:spTree>
    <p:extLst>
      <p:ext uri="{BB962C8B-B14F-4D97-AF65-F5344CB8AC3E}">
        <p14:creationId xmlns:p14="http://schemas.microsoft.com/office/powerpoint/2010/main" xmlns="" val="171188464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2" cstate="print"/>
          <a:srcRect l="20246" t="41185" r="25210" b="49487"/>
          <a:stretch/>
        </p:blipFill>
        <p:spPr>
          <a:xfrm>
            <a:off x="136897" y="42203"/>
            <a:ext cx="11996914" cy="1153551"/>
          </a:xfrm>
          <a:prstGeom prst="rect">
            <a:avLst/>
          </a:prstGeom>
        </p:spPr>
      </p:pic>
      <p:sp>
        <p:nvSpPr>
          <p:cNvPr id="2" name="Rectangle 1"/>
          <p:cNvSpPr>
            <a:spLocks noChangeArrowheads="1"/>
          </p:cNvSpPr>
          <p:nvPr/>
        </p:nvSpPr>
        <p:spPr bwMode="auto">
          <a:xfrm>
            <a:off x="295422" y="1077483"/>
            <a:ext cx="11676184" cy="5721060"/>
          </a:xfrm>
          <a:prstGeom prst="rect">
            <a:avLst/>
          </a:prstGeom>
          <a:solidFill>
            <a:srgbClr val="F9F2F4"/>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357075" tIns="0" rIns="0" bIns="179331"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sz="2000" b="1" i="0" u="none" strike="noStrike" cap="none" normalizeH="0" baseline="0" dirty="0" smtClean="0">
                <a:ln>
                  <a:noFill/>
                </a:ln>
                <a:solidFill>
                  <a:srgbClr val="222222"/>
                </a:solidFill>
                <a:effectLst/>
                <a:latin typeface="Inter-Regular"/>
              </a:rPr>
              <a:t>Parameters:</a:t>
            </a:r>
            <a:endParaRPr kumimoji="0" lang="en-US" sz="20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sz="2000" b="0" i="0" u="none" strike="noStrike" cap="none" normalizeH="0" baseline="0" dirty="0" smtClean="0">
                <a:ln>
                  <a:noFill/>
                </a:ln>
                <a:solidFill>
                  <a:srgbClr val="6C0B24"/>
                </a:solidFill>
                <a:effectLst/>
                <a:latin typeface="Consolas" panose="020B0609020204030204" pitchFamily="49" charset="0"/>
              </a:rPr>
              <a:t>data</a:t>
            </a:r>
            <a:r>
              <a:rPr kumimoji="0" lang="en-US" sz="2000" b="0" i="0" u="none" strike="noStrike" cap="none" normalizeH="0" baseline="0" dirty="0" smtClean="0">
                <a:ln>
                  <a:noFill/>
                </a:ln>
                <a:solidFill>
                  <a:srgbClr val="222222"/>
                </a:solidFill>
                <a:effectLst/>
                <a:latin typeface="Inter-Regular"/>
              </a:rPr>
              <a:t>: It takes input </a:t>
            </a:r>
            <a:r>
              <a:rPr kumimoji="0" lang="en-US" sz="2000" b="0" i="0" u="none" strike="noStrike" cap="none" normalizeH="0" baseline="0" dirty="0" err="1" smtClean="0">
                <a:ln>
                  <a:noFill/>
                </a:ln>
                <a:solidFill>
                  <a:srgbClr val="6C0B24"/>
                </a:solidFill>
                <a:effectLst/>
                <a:latin typeface="Consolas" panose="020B0609020204030204" pitchFamily="49" charset="0"/>
              </a:rPr>
              <a:t>dict</a:t>
            </a:r>
            <a:r>
              <a:rPr kumimoji="0" lang="en-US" sz="2000" b="0" i="0" u="none" strike="noStrike" cap="none" normalizeH="0" baseline="0" dirty="0" smtClean="0">
                <a:ln>
                  <a:noFill/>
                </a:ln>
                <a:solidFill>
                  <a:srgbClr val="222222"/>
                </a:solidFill>
                <a:effectLst/>
                <a:latin typeface="Inter-Regular"/>
              </a:rPr>
              <a:t>, </a:t>
            </a:r>
            <a:r>
              <a:rPr kumimoji="0" lang="en-US" sz="2000" b="0" i="0" u="none" strike="noStrike" cap="none" normalizeH="0" baseline="0" dirty="0" smtClean="0">
                <a:ln>
                  <a:noFill/>
                </a:ln>
                <a:solidFill>
                  <a:srgbClr val="6C0B24"/>
                </a:solidFill>
                <a:effectLst/>
                <a:latin typeface="Consolas" panose="020B0609020204030204" pitchFamily="49" charset="0"/>
              </a:rPr>
              <a:t>list</a:t>
            </a:r>
            <a:r>
              <a:rPr kumimoji="0" lang="en-US" sz="2000" b="0" i="0" u="none" strike="noStrike" cap="none" normalizeH="0" baseline="0" dirty="0" smtClean="0">
                <a:ln>
                  <a:noFill/>
                </a:ln>
                <a:solidFill>
                  <a:srgbClr val="222222"/>
                </a:solidFill>
                <a:effectLst/>
                <a:latin typeface="Inter-Regular"/>
              </a:rPr>
              <a:t>, </a:t>
            </a:r>
            <a:r>
              <a:rPr kumimoji="0" lang="en-US" sz="2000" b="0" i="0" u="none" strike="noStrike" cap="none" normalizeH="0" baseline="0" dirty="0" smtClean="0">
                <a:ln>
                  <a:noFill/>
                </a:ln>
                <a:solidFill>
                  <a:srgbClr val="6C0B24"/>
                </a:solidFill>
                <a:effectLst/>
                <a:latin typeface="Consolas" panose="020B0609020204030204" pitchFamily="49" charset="0"/>
              </a:rPr>
              <a:t>set</a:t>
            </a:r>
            <a:r>
              <a:rPr kumimoji="0" lang="en-US" sz="2000" b="0" i="0" u="none" strike="noStrike" cap="none" normalizeH="0" baseline="0" dirty="0" smtClean="0">
                <a:ln>
                  <a:noFill/>
                </a:ln>
                <a:solidFill>
                  <a:srgbClr val="222222"/>
                </a:solidFill>
                <a:effectLst/>
                <a:latin typeface="Inter-Regular"/>
              </a:rPr>
              <a:t>, </a:t>
            </a:r>
            <a:r>
              <a:rPr kumimoji="0" lang="en-US" sz="2000" b="0" i="0" u="none" strike="noStrike" cap="none" normalizeH="0" baseline="0" dirty="0" err="1" smtClean="0">
                <a:ln>
                  <a:noFill/>
                </a:ln>
                <a:solidFill>
                  <a:srgbClr val="6C0B24"/>
                </a:solidFill>
                <a:effectLst/>
                <a:latin typeface="Consolas" panose="020B0609020204030204" pitchFamily="49" charset="0"/>
              </a:rPr>
              <a:t>ndarray</a:t>
            </a:r>
            <a:r>
              <a:rPr kumimoji="0" lang="en-US" sz="2000" b="0" i="0" u="none" strike="noStrike" cap="none" normalizeH="0" baseline="0" dirty="0" smtClean="0">
                <a:ln>
                  <a:noFill/>
                </a:ln>
                <a:solidFill>
                  <a:srgbClr val="222222"/>
                </a:solidFill>
                <a:effectLst/>
                <a:latin typeface="Inter-Regular"/>
              </a:rPr>
              <a:t>, </a:t>
            </a:r>
            <a:r>
              <a:rPr kumimoji="0" lang="en-US" sz="2000" b="0" i="0" u="none" strike="noStrike" cap="none" normalizeH="0" baseline="0" dirty="0" err="1" smtClean="0">
                <a:ln>
                  <a:noFill/>
                </a:ln>
                <a:solidFill>
                  <a:srgbClr val="6C0B24"/>
                </a:solidFill>
                <a:effectLst/>
                <a:latin typeface="Consolas" panose="020B0609020204030204" pitchFamily="49" charset="0"/>
              </a:rPr>
              <a:t>Iterable</a:t>
            </a:r>
            <a:r>
              <a:rPr kumimoji="0" lang="en-US" sz="2000" b="0" i="0" u="none" strike="noStrike" cap="none" normalizeH="0" baseline="0" dirty="0" smtClean="0">
                <a:ln>
                  <a:noFill/>
                </a:ln>
                <a:solidFill>
                  <a:srgbClr val="222222"/>
                </a:solidFill>
                <a:effectLst/>
                <a:latin typeface="Inter-Regular"/>
              </a:rPr>
              <a:t>, or </a:t>
            </a:r>
            <a:r>
              <a:rPr kumimoji="0" lang="en-US" sz="2000" b="0" i="0" u="none" strike="noStrike" cap="none" normalizeH="0" baseline="0" dirty="0" err="1" smtClean="0">
                <a:ln>
                  <a:noFill/>
                </a:ln>
                <a:solidFill>
                  <a:srgbClr val="222222"/>
                </a:solidFill>
                <a:effectLst/>
                <a:latin typeface="Inter-Regular"/>
              </a:rPr>
              <a:t>DataFrame</a:t>
            </a:r>
            <a:r>
              <a:rPr kumimoji="0" lang="en-US" sz="2000" b="0" i="0" u="none" strike="noStrike" cap="none" normalizeH="0" baseline="0" dirty="0" smtClean="0">
                <a:ln>
                  <a:noFill/>
                </a:ln>
                <a:solidFill>
                  <a:srgbClr val="222222"/>
                </a:solidFill>
                <a:effectLst/>
                <a:latin typeface="Inter-Regular"/>
              </a:rPr>
              <a:t>. If the input is not provided, then it creates an empty </a:t>
            </a:r>
            <a:r>
              <a:rPr kumimoji="0" lang="en-US" sz="2000" b="0" i="0" u="none" strike="noStrike" cap="none" normalizeH="0" baseline="0" dirty="0" err="1" smtClean="0">
                <a:ln>
                  <a:noFill/>
                </a:ln>
                <a:solidFill>
                  <a:srgbClr val="222222"/>
                </a:solidFill>
                <a:effectLst/>
                <a:latin typeface="Inter-Regular"/>
              </a:rPr>
              <a:t>DataFrame</a:t>
            </a:r>
            <a:r>
              <a:rPr kumimoji="0" lang="en-US" sz="2000" b="0" i="0" u="none" strike="noStrike" cap="none" normalizeH="0" baseline="0" dirty="0" smtClean="0">
                <a:ln>
                  <a:noFill/>
                </a:ln>
                <a:solidFill>
                  <a:srgbClr val="222222"/>
                </a:solidFill>
                <a:effectLst/>
                <a:latin typeface="Inter-Regular"/>
              </a:rPr>
              <a:t>. The resultant column order follows the insertion order.</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sz="2000" b="0" i="0" u="none" strike="noStrike" cap="none" normalizeH="0" baseline="0" dirty="0" smtClean="0">
                <a:ln>
                  <a:noFill/>
                </a:ln>
                <a:solidFill>
                  <a:srgbClr val="6C0B24"/>
                </a:solidFill>
                <a:effectLst/>
                <a:latin typeface="Consolas" panose="020B0609020204030204" pitchFamily="49" charset="0"/>
              </a:rPr>
              <a:t>index</a:t>
            </a:r>
            <a:r>
              <a:rPr kumimoji="0" lang="en-US" sz="2000" b="0" i="0" u="none" strike="noStrike" cap="none" normalizeH="0" baseline="0" dirty="0" smtClean="0">
                <a:ln>
                  <a:noFill/>
                </a:ln>
                <a:solidFill>
                  <a:srgbClr val="222222"/>
                </a:solidFill>
                <a:effectLst/>
                <a:latin typeface="Inter-Regular"/>
              </a:rPr>
              <a:t>: (Optional) It takes the list of row index for the </a:t>
            </a:r>
            <a:r>
              <a:rPr kumimoji="0" lang="en-US" sz="2000" b="0" i="0" u="none" strike="noStrike" cap="none" normalizeH="0" baseline="0" dirty="0" err="1" smtClean="0">
                <a:ln>
                  <a:noFill/>
                </a:ln>
                <a:solidFill>
                  <a:srgbClr val="222222"/>
                </a:solidFill>
                <a:effectLst/>
                <a:latin typeface="Inter-Regular"/>
              </a:rPr>
              <a:t>DataFrame</a:t>
            </a:r>
            <a:r>
              <a:rPr kumimoji="0" lang="en-US" sz="2000" b="0" i="0" u="none" strike="noStrike" cap="none" normalizeH="0" baseline="0" dirty="0" smtClean="0">
                <a:ln>
                  <a:noFill/>
                </a:ln>
                <a:solidFill>
                  <a:srgbClr val="222222"/>
                </a:solidFill>
                <a:effectLst/>
                <a:latin typeface="Inter-Regular"/>
              </a:rPr>
              <a:t>. The default value is a range of integers 0, 1,…n.</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sz="2000" b="0" i="0" u="none" strike="noStrike" cap="none" normalizeH="0" baseline="0" dirty="0" smtClean="0">
                <a:ln>
                  <a:noFill/>
                </a:ln>
                <a:solidFill>
                  <a:srgbClr val="6C0B24"/>
                </a:solidFill>
                <a:effectLst/>
                <a:latin typeface="Consolas" panose="020B0609020204030204" pitchFamily="49" charset="0"/>
              </a:rPr>
              <a:t>columns</a:t>
            </a:r>
            <a:r>
              <a:rPr kumimoji="0" lang="en-US" sz="2000" b="0" i="0" u="none" strike="noStrike" cap="none" normalizeH="0" baseline="0" dirty="0" smtClean="0">
                <a:ln>
                  <a:noFill/>
                </a:ln>
                <a:solidFill>
                  <a:srgbClr val="222222"/>
                </a:solidFill>
                <a:effectLst/>
                <a:latin typeface="Inter-Regular"/>
              </a:rPr>
              <a:t> : (Optional) It takes the list of columns for the </a:t>
            </a:r>
            <a:r>
              <a:rPr kumimoji="0" lang="en-US" sz="2000" b="0" i="0" u="none" strike="noStrike" cap="none" normalizeH="0" baseline="0" dirty="0" err="1" smtClean="0">
                <a:ln>
                  <a:noFill/>
                </a:ln>
                <a:solidFill>
                  <a:srgbClr val="222222"/>
                </a:solidFill>
                <a:effectLst/>
                <a:latin typeface="Inter-Regular"/>
              </a:rPr>
              <a:t>DataFrame</a:t>
            </a:r>
            <a:r>
              <a:rPr kumimoji="0" lang="en-US" sz="2000" b="0" i="0" u="none" strike="noStrike" cap="none" normalizeH="0" baseline="0" dirty="0" smtClean="0">
                <a:ln>
                  <a:noFill/>
                </a:ln>
                <a:solidFill>
                  <a:srgbClr val="222222"/>
                </a:solidFill>
                <a:effectLst/>
                <a:latin typeface="Inter-Regular"/>
              </a:rPr>
              <a:t>. The default value is a range of integers 0, 1,…n.</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sz="2000" b="0" i="0" u="none" strike="noStrike" cap="none" normalizeH="0" baseline="0" dirty="0" err="1" smtClean="0">
                <a:ln>
                  <a:noFill/>
                </a:ln>
                <a:solidFill>
                  <a:srgbClr val="6C0B24"/>
                </a:solidFill>
                <a:effectLst/>
                <a:latin typeface="Consolas" panose="020B0609020204030204" pitchFamily="49" charset="0"/>
              </a:rPr>
              <a:t>dtype</a:t>
            </a:r>
            <a:r>
              <a:rPr kumimoji="0" lang="en-US" sz="2000" b="0" i="0" u="none" strike="noStrike" cap="none" normalizeH="0" baseline="0" dirty="0" smtClean="0">
                <a:ln>
                  <a:noFill/>
                </a:ln>
                <a:solidFill>
                  <a:srgbClr val="222222"/>
                </a:solidFill>
                <a:effectLst/>
                <a:latin typeface="Inter-Regular"/>
              </a:rPr>
              <a:t> : (Optional) By default, It infers the data type from the data, but this option applies any specific data type to the whole </a:t>
            </a:r>
            <a:r>
              <a:rPr kumimoji="0" lang="en-US" sz="2000" b="0" i="0" u="none" strike="noStrike" cap="none" normalizeH="0" baseline="0" dirty="0" err="1" smtClean="0">
                <a:ln>
                  <a:noFill/>
                </a:ln>
                <a:solidFill>
                  <a:srgbClr val="222222"/>
                </a:solidFill>
                <a:effectLst/>
                <a:latin typeface="Inter-Regular"/>
              </a:rPr>
              <a:t>DataFrame</a:t>
            </a:r>
            <a:r>
              <a:rPr kumimoji="0" lang="en-US" sz="2000" b="0" i="0" u="none" strike="noStrike" cap="none" normalizeH="0" baseline="0" dirty="0" smtClean="0">
                <a:ln>
                  <a:noFill/>
                </a:ln>
                <a:solidFill>
                  <a:srgbClr val="222222"/>
                </a:solidFill>
                <a:effectLst/>
                <a:latin typeface="Inter-Regular"/>
              </a:rPr>
              <a: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sz="2000" b="0" i="0" u="none" strike="noStrike" cap="none" normalizeH="0" baseline="0" dirty="0" smtClean="0">
                <a:ln>
                  <a:noFill/>
                </a:ln>
                <a:solidFill>
                  <a:srgbClr val="6C0B24"/>
                </a:solidFill>
                <a:effectLst/>
                <a:latin typeface="Consolas" panose="020B0609020204030204" pitchFamily="49" charset="0"/>
              </a:rPr>
              <a:t>copy</a:t>
            </a:r>
            <a:r>
              <a:rPr kumimoji="0" lang="en-US" sz="2000" b="0" i="0" u="none" strike="noStrike" cap="none" normalizeH="0" baseline="0" dirty="0" smtClean="0">
                <a:ln>
                  <a:noFill/>
                </a:ln>
                <a:solidFill>
                  <a:srgbClr val="222222"/>
                </a:solidFill>
                <a:effectLst/>
                <a:latin typeface="Inter-Regular"/>
              </a:rPr>
              <a:t> : (Optional) Copy data from inputs. Boolean, Default False. Only affects </a:t>
            </a:r>
            <a:r>
              <a:rPr kumimoji="0" lang="en-US" sz="2000" b="0" i="0" u="none" strike="noStrike" cap="none" normalizeH="0" baseline="0" dirty="0" err="1" smtClean="0">
                <a:ln>
                  <a:noFill/>
                </a:ln>
                <a:solidFill>
                  <a:srgbClr val="222222"/>
                </a:solidFill>
                <a:effectLst/>
                <a:latin typeface="Inter-Regular"/>
              </a:rPr>
              <a:t>DataFrame</a:t>
            </a:r>
            <a:r>
              <a:rPr kumimoji="0" lang="en-US" sz="2000" b="0" i="0" u="none" strike="noStrike" cap="none" normalizeH="0" baseline="0" dirty="0" smtClean="0">
                <a:ln>
                  <a:noFill/>
                </a:ln>
                <a:solidFill>
                  <a:srgbClr val="222222"/>
                </a:solidFill>
                <a:effectLst/>
                <a:latin typeface="Inter-Regular"/>
              </a:rPr>
              <a:t> or 2d array-like inputs</a:t>
            </a:r>
            <a:endParaRPr kumimoji="0" lang="en-US" sz="20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xmlns="" val="84511659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07852" y="113772"/>
            <a:ext cx="11962228" cy="923330"/>
          </a:xfrm>
          <a:prstGeom prst="rect">
            <a:avLst/>
          </a:prstGeom>
        </p:spPr>
        <p:txBody>
          <a:bodyPr wrap="square">
            <a:spAutoFit/>
          </a:bodyPr>
          <a:lstStyle/>
          <a:p>
            <a:r>
              <a:rPr lang="en-US" b="1" i="0" dirty="0" err="1" smtClean="0">
                <a:solidFill>
                  <a:srgbClr val="1C2B41"/>
                </a:solidFill>
                <a:effectLst/>
                <a:latin typeface="Inter-Bold"/>
              </a:rPr>
              <a:t>Dataframe</a:t>
            </a:r>
            <a:r>
              <a:rPr lang="en-US" b="1" i="0" dirty="0" smtClean="0">
                <a:solidFill>
                  <a:srgbClr val="1C2B41"/>
                </a:solidFill>
                <a:effectLst/>
                <a:latin typeface="Inter-Bold"/>
              </a:rPr>
              <a:t> from CSV</a:t>
            </a:r>
          </a:p>
          <a:p>
            <a:r>
              <a:rPr lang="en-US" b="0" i="0" dirty="0" smtClean="0">
                <a:solidFill>
                  <a:srgbClr val="222222"/>
                </a:solidFill>
                <a:effectLst/>
                <a:latin typeface="Inter-Regular"/>
              </a:rPr>
              <a:t>In the field of Data Science, </a:t>
            </a:r>
            <a:r>
              <a:rPr lang="en-US" b="0" i="0" u="sng" dirty="0" smtClean="0">
                <a:solidFill>
                  <a:srgbClr val="1E69DE"/>
                </a:solidFill>
                <a:effectLst/>
                <a:latin typeface="Inter-Regular"/>
                <a:hlinkClick r:id="rId2"/>
              </a:rPr>
              <a:t>CSV files</a:t>
            </a:r>
            <a:r>
              <a:rPr lang="en-US" b="0" i="0" dirty="0" smtClean="0">
                <a:solidFill>
                  <a:srgbClr val="222222"/>
                </a:solidFill>
                <a:effectLst/>
                <a:latin typeface="Inter-Regular"/>
              </a:rPr>
              <a:t> are used to store large datasets. To efficiently analyze such datasets, we need to convert them into pandas </a:t>
            </a:r>
            <a:r>
              <a:rPr lang="en-US" b="0" i="0" dirty="0" err="1" smtClean="0">
                <a:solidFill>
                  <a:srgbClr val="222222"/>
                </a:solidFill>
                <a:effectLst/>
                <a:latin typeface="Inter-Regular"/>
              </a:rPr>
              <a:t>DataFrame</a:t>
            </a:r>
            <a:r>
              <a:rPr lang="en-US" b="0" i="0" dirty="0" smtClean="0">
                <a:solidFill>
                  <a:srgbClr val="222222"/>
                </a:solidFill>
                <a:effectLst/>
                <a:latin typeface="Inter-Regular"/>
              </a:rPr>
              <a:t>.</a:t>
            </a:r>
            <a:endParaRPr lang="en-US" b="0" i="0" dirty="0">
              <a:solidFill>
                <a:srgbClr val="222222"/>
              </a:solidFill>
              <a:effectLst/>
              <a:latin typeface="Inter-Regular"/>
            </a:endParaRPr>
          </a:p>
        </p:txBody>
      </p:sp>
      <p:sp>
        <p:nvSpPr>
          <p:cNvPr id="4" name="Rectangle 1"/>
          <p:cNvSpPr>
            <a:spLocks noChangeArrowheads="1"/>
          </p:cNvSpPr>
          <p:nvPr/>
        </p:nvSpPr>
        <p:spPr bwMode="auto">
          <a:xfrm rot="10800000" flipV="1">
            <a:off x="154741" y="1486362"/>
            <a:ext cx="11887203" cy="707886"/>
          </a:xfrm>
          <a:prstGeom prst="rect">
            <a:avLst/>
          </a:prstGeom>
          <a:solidFill>
            <a:srgbClr val="F9F2F4"/>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smtClean="0">
                <a:ln>
                  <a:noFill/>
                </a:ln>
                <a:solidFill>
                  <a:srgbClr val="222222"/>
                </a:solidFill>
                <a:effectLst/>
                <a:latin typeface="Inter-Regular"/>
              </a:rPr>
              <a:t>To create a </a:t>
            </a:r>
            <a:r>
              <a:rPr kumimoji="0" lang="en-US" sz="2000" b="0" i="0" u="none" strike="noStrike" cap="none" normalizeH="0" baseline="0" dirty="0" err="1" smtClean="0">
                <a:ln>
                  <a:noFill/>
                </a:ln>
                <a:solidFill>
                  <a:srgbClr val="222222"/>
                </a:solidFill>
                <a:effectLst/>
                <a:latin typeface="Inter-Regular"/>
              </a:rPr>
              <a:t>DataFrame</a:t>
            </a:r>
            <a:r>
              <a:rPr kumimoji="0" lang="en-US" sz="2000" b="0" i="0" u="none" strike="noStrike" cap="none" normalizeH="0" baseline="0" dirty="0" smtClean="0">
                <a:ln>
                  <a:noFill/>
                </a:ln>
                <a:solidFill>
                  <a:srgbClr val="222222"/>
                </a:solidFill>
                <a:effectLst/>
                <a:latin typeface="Inter-Regular"/>
              </a:rPr>
              <a:t> from CSV, we use the </a:t>
            </a:r>
            <a:r>
              <a:rPr kumimoji="0" lang="en-US" sz="2000" b="0" i="0" u="none" strike="noStrike" cap="none" normalizeH="0" baseline="0" dirty="0" err="1" smtClean="0">
                <a:ln>
                  <a:noFill/>
                </a:ln>
                <a:solidFill>
                  <a:srgbClr val="6C0B24"/>
                </a:solidFill>
                <a:effectLst/>
                <a:latin typeface="Consolas" panose="020B0609020204030204" pitchFamily="49" charset="0"/>
              </a:rPr>
              <a:t>read_csv</a:t>
            </a:r>
            <a:r>
              <a:rPr kumimoji="0" lang="en-US" sz="2000" b="0" i="0" u="none" strike="noStrike" cap="none" normalizeH="0" baseline="0" dirty="0" smtClean="0">
                <a:ln>
                  <a:noFill/>
                </a:ln>
                <a:solidFill>
                  <a:srgbClr val="6C0B24"/>
                </a:solidFill>
                <a:effectLst/>
                <a:latin typeface="Consolas" panose="020B0609020204030204" pitchFamily="49" charset="0"/>
              </a:rPr>
              <a:t>('</a:t>
            </a:r>
            <a:r>
              <a:rPr kumimoji="0" lang="en-US" sz="2000" b="0" i="0" u="none" strike="noStrike" cap="none" normalizeH="0" baseline="0" dirty="0" err="1" smtClean="0">
                <a:ln>
                  <a:noFill/>
                </a:ln>
                <a:solidFill>
                  <a:srgbClr val="6C0B24"/>
                </a:solidFill>
                <a:effectLst/>
                <a:latin typeface="Consolas" panose="020B0609020204030204" pitchFamily="49" charset="0"/>
              </a:rPr>
              <a:t>file_name</a:t>
            </a:r>
            <a:r>
              <a:rPr kumimoji="0" lang="en-US" sz="2000" b="0" i="0" u="none" strike="noStrike" cap="none" normalizeH="0" baseline="0" dirty="0" smtClean="0">
                <a:ln>
                  <a:noFill/>
                </a:ln>
                <a:solidFill>
                  <a:srgbClr val="6C0B24"/>
                </a:solidFill>
                <a:effectLst/>
                <a:latin typeface="Consolas" panose="020B0609020204030204" pitchFamily="49" charset="0"/>
              </a:rPr>
              <a:t>')</a:t>
            </a:r>
            <a:r>
              <a:rPr kumimoji="0" lang="en-US" sz="2000" b="0" i="0" u="none" strike="noStrike" cap="none" normalizeH="0" baseline="0" dirty="0" smtClean="0">
                <a:ln>
                  <a:noFill/>
                </a:ln>
                <a:solidFill>
                  <a:srgbClr val="222222"/>
                </a:solidFill>
                <a:effectLst/>
                <a:latin typeface="Inter-Regular"/>
              </a:rPr>
              <a:t> function that takes the file name as input and returns </a:t>
            </a:r>
            <a:r>
              <a:rPr kumimoji="0" lang="en-US" sz="2000" b="0" i="0" u="none" strike="noStrike" cap="none" normalizeH="0" baseline="0" dirty="0" err="1" smtClean="0">
                <a:ln>
                  <a:noFill/>
                </a:ln>
                <a:solidFill>
                  <a:srgbClr val="222222"/>
                </a:solidFill>
                <a:effectLst/>
                <a:latin typeface="Inter-Regular"/>
              </a:rPr>
              <a:t>DataFrame</a:t>
            </a:r>
            <a:r>
              <a:rPr kumimoji="0" lang="en-US" sz="2000" b="0" i="0" u="none" strike="noStrike" cap="none" normalizeH="0" baseline="0" dirty="0" smtClean="0">
                <a:ln>
                  <a:noFill/>
                </a:ln>
                <a:solidFill>
                  <a:srgbClr val="222222"/>
                </a:solidFill>
                <a:effectLst/>
                <a:latin typeface="Inter-Regular"/>
              </a:rPr>
              <a:t> as output.</a:t>
            </a:r>
            <a:r>
              <a:rPr kumimoji="0" lang="en-US" sz="2000" b="0" i="0" u="none" strike="noStrike" cap="none" normalizeH="0" baseline="0" dirty="0" smtClean="0">
                <a:ln>
                  <a:noFill/>
                </a:ln>
                <a:solidFill>
                  <a:schemeClr val="tx1"/>
                </a:solidFill>
                <a:effectLst/>
              </a:rPr>
              <a:t> </a:t>
            </a:r>
          </a:p>
        </p:txBody>
      </p:sp>
      <p:sp>
        <p:nvSpPr>
          <p:cNvPr id="5" name="Rectangle 4"/>
          <p:cNvSpPr/>
          <p:nvPr/>
        </p:nvSpPr>
        <p:spPr>
          <a:xfrm>
            <a:off x="1191064" y="2768211"/>
            <a:ext cx="6602437" cy="646331"/>
          </a:xfrm>
          <a:prstGeom prst="rect">
            <a:avLst/>
          </a:prstGeom>
        </p:spPr>
        <p:txBody>
          <a:bodyPr wrap="square">
            <a:spAutoFit/>
          </a:bodyPr>
          <a:lstStyle/>
          <a:p>
            <a:r>
              <a:rPr lang="en-US" b="0" i="0" dirty="0" smtClean="0">
                <a:effectLst/>
                <a:latin typeface="Consolas" panose="020B0609020204030204" pitchFamily="49" charset="0"/>
              </a:rPr>
              <a:t>cars = </a:t>
            </a:r>
            <a:r>
              <a:rPr lang="en-US" b="0" i="0" dirty="0" err="1" smtClean="0">
                <a:effectLst/>
                <a:latin typeface="Consolas" panose="020B0609020204030204" pitchFamily="49" charset="0"/>
              </a:rPr>
              <a:t>pd.read_csv</a:t>
            </a:r>
            <a:r>
              <a:rPr lang="en-US" b="0" i="0" dirty="0" smtClean="0">
                <a:effectLst/>
                <a:latin typeface="Consolas" panose="020B0609020204030204" pitchFamily="49" charset="0"/>
              </a:rPr>
              <a:t>("Automobile_data.csv") </a:t>
            </a:r>
            <a:r>
              <a:rPr lang="en-US" b="1" i="0" dirty="0" smtClean="0">
                <a:effectLst/>
                <a:latin typeface="Consolas" panose="020B0609020204030204" pitchFamily="49" charset="0"/>
              </a:rPr>
              <a:t>print</a:t>
            </a:r>
            <a:r>
              <a:rPr lang="en-US" b="0" i="0" dirty="0" smtClean="0">
                <a:effectLst/>
                <a:latin typeface="Consolas" panose="020B0609020204030204" pitchFamily="49" charset="0"/>
              </a:rPr>
              <a:t>(cars)</a:t>
            </a:r>
            <a:endParaRPr lang="en-US" dirty="0"/>
          </a:p>
        </p:txBody>
      </p:sp>
    </p:spTree>
    <p:extLst>
      <p:ext uri="{BB962C8B-B14F-4D97-AF65-F5344CB8AC3E}">
        <p14:creationId xmlns:p14="http://schemas.microsoft.com/office/powerpoint/2010/main" xmlns="" val="100027944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0" y="368244"/>
            <a:ext cx="11571965" cy="4279064"/>
          </a:xfrm>
          <a:prstGeom prst="rect">
            <a:avLst/>
          </a:prstGeom>
          <a:solidFill>
            <a:srgbClr val="FEFEFE"/>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357075" tIns="0" rIns="0" bIns="179331"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sz="2000" b="1" i="0" u="none" strike="noStrike" cap="none" normalizeH="0" baseline="0" dirty="0" smtClean="0">
                <a:ln>
                  <a:noFill/>
                </a:ln>
                <a:solidFill>
                  <a:srgbClr val="1C2B41"/>
                </a:solidFill>
                <a:effectLst/>
                <a:latin typeface="Inter-Bold"/>
              </a:rPr>
              <a:t>Metadata info of </a:t>
            </a:r>
            <a:r>
              <a:rPr kumimoji="0" lang="en-US" sz="2000" b="1" i="0" u="none" strike="noStrike" cap="none" normalizeH="0" baseline="0" dirty="0" err="1" smtClean="0">
                <a:ln>
                  <a:noFill/>
                </a:ln>
                <a:solidFill>
                  <a:srgbClr val="1C2B41"/>
                </a:solidFill>
                <a:effectLst/>
                <a:latin typeface="Inter-Bold"/>
              </a:rPr>
              <a:t>DataFrame</a:t>
            </a:r>
            <a:endParaRPr kumimoji="0" lang="en-US" sz="2000" b="1" i="0" u="none" strike="noStrike" cap="none" normalizeH="0" baseline="0" dirty="0" smtClean="0">
              <a:ln>
                <a:noFill/>
              </a:ln>
              <a:solidFill>
                <a:srgbClr val="1C2B41"/>
              </a:solidFill>
              <a:effectLst/>
              <a:latin typeface="Inter-Bold"/>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US" sz="2000" b="0" i="0" u="none" strike="noStrike" cap="none" normalizeH="0" baseline="0" dirty="0" smtClean="0">
                <a:ln>
                  <a:noFill/>
                </a:ln>
                <a:solidFill>
                  <a:srgbClr val="6C0B24"/>
                </a:solidFill>
                <a:effectLst/>
                <a:latin typeface="Consolas" panose="020B0609020204030204" pitchFamily="49" charset="0"/>
              </a:rPr>
              <a:t>DataFrame.info()</a:t>
            </a:r>
            <a:r>
              <a:rPr kumimoji="0" lang="en-US" sz="2000" b="0" i="0" u="none" strike="noStrike" cap="none" normalizeH="0" baseline="0" dirty="0" smtClean="0">
                <a:ln>
                  <a:noFill/>
                </a:ln>
                <a:solidFill>
                  <a:srgbClr val="222222"/>
                </a:solidFill>
                <a:effectLst/>
                <a:latin typeface="Inter-Regular"/>
              </a:rPr>
              <a:t> is a function of </a:t>
            </a:r>
            <a:r>
              <a:rPr kumimoji="0" lang="en-US" sz="2000" b="0" i="0" u="none" strike="noStrike" cap="none" normalizeH="0" baseline="0" dirty="0" err="1" smtClean="0">
                <a:ln>
                  <a:noFill/>
                </a:ln>
                <a:solidFill>
                  <a:srgbClr val="222222"/>
                </a:solidFill>
                <a:effectLst/>
                <a:latin typeface="Inter-Regular"/>
              </a:rPr>
              <a:t>DataFrame</a:t>
            </a:r>
            <a:r>
              <a:rPr kumimoji="0" lang="en-US" sz="2000" b="0" i="0" u="none" strike="noStrike" cap="none" normalizeH="0" baseline="0" dirty="0" smtClean="0">
                <a:ln>
                  <a:noFill/>
                </a:ln>
                <a:solidFill>
                  <a:srgbClr val="222222"/>
                </a:solidFill>
                <a:effectLst/>
                <a:latin typeface="Inter-Regular"/>
              </a:rPr>
              <a:t> that gives metadata of </a:t>
            </a:r>
            <a:r>
              <a:rPr kumimoji="0" lang="en-US" sz="2000" b="0" i="0" u="none" strike="noStrike" cap="none" normalizeH="0" baseline="0" dirty="0" err="1" smtClean="0">
                <a:ln>
                  <a:noFill/>
                </a:ln>
                <a:solidFill>
                  <a:srgbClr val="222222"/>
                </a:solidFill>
                <a:effectLst/>
                <a:latin typeface="Inter-Regular"/>
              </a:rPr>
              <a:t>DataFrame</a:t>
            </a:r>
            <a:r>
              <a:rPr kumimoji="0" lang="en-US" sz="2000" b="0" i="0" u="none" strike="noStrike" cap="none" normalizeH="0" baseline="0" dirty="0" smtClean="0">
                <a:ln>
                  <a:noFill/>
                </a:ln>
                <a:solidFill>
                  <a:srgbClr val="222222"/>
                </a:solidFill>
                <a:effectLst/>
                <a:latin typeface="Inter-Regular"/>
              </a:rPr>
              <a:t>. Which includes,</a:t>
            </a:r>
            <a:endParaRPr kumimoji="0" lang="en-US" sz="20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sz="2000" b="0" i="0" u="none" strike="noStrike" cap="none" normalizeH="0" baseline="0" dirty="0" smtClean="0">
                <a:ln>
                  <a:noFill/>
                </a:ln>
                <a:solidFill>
                  <a:srgbClr val="222222"/>
                </a:solidFill>
                <a:effectLst/>
                <a:latin typeface="Inter-Regular"/>
              </a:rPr>
              <a:t>Number of rows and its range of index</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sz="2000" b="0" i="0" u="none" strike="noStrike" cap="none" normalizeH="0" baseline="0" dirty="0" smtClean="0">
                <a:ln>
                  <a:noFill/>
                </a:ln>
                <a:solidFill>
                  <a:srgbClr val="222222"/>
                </a:solidFill>
                <a:effectLst/>
                <a:latin typeface="Inter-Regular"/>
              </a:rPr>
              <a:t>Total number of columns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sz="2000" b="0" i="0" u="none" strike="noStrike" cap="none" normalizeH="0" baseline="0" dirty="0" smtClean="0">
                <a:ln>
                  <a:noFill/>
                </a:ln>
                <a:solidFill>
                  <a:srgbClr val="222222"/>
                </a:solidFill>
                <a:effectLst/>
                <a:latin typeface="Inter-Regular"/>
              </a:rPr>
              <a:t>List of columns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sz="2000" b="0" i="0" u="none" strike="noStrike" cap="none" normalizeH="0" baseline="0" dirty="0" smtClean="0">
                <a:ln>
                  <a:noFill/>
                </a:ln>
                <a:solidFill>
                  <a:srgbClr val="222222"/>
                </a:solidFill>
                <a:effectLst/>
                <a:latin typeface="Inter-Regular"/>
              </a:rPr>
              <a:t>Count of the total number of non-null values in the column</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sz="2000" b="0" i="0" u="none" strike="noStrike" cap="none" normalizeH="0" baseline="0" dirty="0" smtClean="0">
                <a:ln>
                  <a:noFill/>
                </a:ln>
                <a:solidFill>
                  <a:srgbClr val="222222"/>
                </a:solidFill>
                <a:effectLst/>
                <a:latin typeface="Inter-Regular"/>
              </a:rPr>
              <a:t>Data type of column</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sz="2000" b="0" i="0" u="none" strike="noStrike" cap="none" normalizeH="0" baseline="0" dirty="0" smtClean="0">
                <a:ln>
                  <a:noFill/>
                </a:ln>
                <a:solidFill>
                  <a:srgbClr val="222222"/>
                </a:solidFill>
                <a:effectLst/>
                <a:latin typeface="Inter-Regular"/>
              </a:rPr>
              <a:t>Count of columns in each data type</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sz="2000" b="0" i="0" u="none" strike="noStrike" cap="none" normalizeH="0" baseline="0" dirty="0" smtClean="0">
                <a:ln>
                  <a:noFill/>
                </a:ln>
                <a:solidFill>
                  <a:srgbClr val="222222"/>
                </a:solidFill>
                <a:effectLst/>
                <a:latin typeface="Inter-Regular"/>
              </a:rPr>
              <a:t>Memory usage by the </a:t>
            </a:r>
            <a:r>
              <a:rPr kumimoji="0" lang="en-US" sz="2000" b="0" i="0" u="none" strike="noStrike" cap="none" normalizeH="0" baseline="0" dirty="0" err="1" smtClean="0">
                <a:ln>
                  <a:noFill/>
                </a:ln>
                <a:solidFill>
                  <a:srgbClr val="222222"/>
                </a:solidFill>
                <a:effectLst/>
                <a:latin typeface="Inter-Regular"/>
              </a:rPr>
              <a:t>DataFrame</a:t>
            </a:r>
            <a:endParaRPr kumimoji="0" lang="en-US" sz="2000" b="0" i="0" u="none" strike="noStrike" cap="none" normalizeH="0" baseline="0" dirty="0" smtClean="0">
              <a:ln>
                <a:noFill/>
              </a:ln>
              <a:solidFill>
                <a:srgbClr val="222222"/>
              </a:solidFill>
              <a:effectLst/>
              <a:latin typeface="Inter-Regular"/>
            </a:endParaRPr>
          </a:p>
        </p:txBody>
      </p:sp>
    </p:spTree>
    <p:extLst>
      <p:ext uri="{BB962C8B-B14F-4D97-AF65-F5344CB8AC3E}">
        <p14:creationId xmlns:p14="http://schemas.microsoft.com/office/powerpoint/2010/main" xmlns="" val="17959025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204715" y="737886"/>
            <a:ext cx="11377379" cy="5259396"/>
          </a:xfrm>
          <a:prstGeom prst="rect">
            <a:avLst/>
          </a:prstGeom>
          <a:solidFill>
            <a:srgbClr val="FEFEFE"/>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357075" tIns="0" rIns="0" bIns="179331"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rtl="0" eaLnBrk="0" fontAlgn="base" latinLnBrk="0" hangingPunct="0">
              <a:lnSpc>
                <a:spcPct val="150000"/>
              </a:lnSpc>
              <a:spcBef>
                <a:spcPct val="0"/>
              </a:spcBef>
              <a:spcAft>
                <a:spcPct val="0"/>
              </a:spcAft>
              <a:buClrTx/>
              <a:buSzTx/>
              <a:buFontTx/>
              <a:buNone/>
              <a:tabLst/>
            </a:pPr>
            <a:r>
              <a:rPr kumimoji="0" lang="en-US" sz="2000" b="1" i="0" u="none" strike="noStrike" cap="none" normalizeH="0" baseline="0" dirty="0" smtClean="0">
                <a:ln>
                  <a:noFill/>
                </a:ln>
                <a:solidFill>
                  <a:srgbClr val="1C2B41"/>
                </a:solidFill>
                <a:effectLst/>
                <a:latin typeface="Inter-Bold"/>
              </a:rPr>
              <a:t>Get the statistics of </a:t>
            </a:r>
            <a:r>
              <a:rPr kumimoji="0" lang="en-US" sz="2000" b="1" i="0" u="none" strike="noStrike" cap="none" normalizeH="0" baseline="0" dirty="0" err="1" smtClean="0">
                <a:ln>
                  <a:noFill/>
                </a:ln>
                <a:solidFill>
                  <a:srgbClr val="1C2B41"/>
                </a:solidFill>
                <a:effectLst/>
                <a:latin typeface="Inter-Bold"/>
              </a:rPr>
              <a:t>DataFrame</a:t>
            </a:r>
            <a:endParaRPr kumimoji="0" lang="en-US" sz="2000" b="1" i="0" u="none" strike="noStrike" cap="none" normalizeH="0" baseline="0" dirty="0" smtClean="0">
              <a:ln>
                <a:noFill/>
              </a:ln>
              <a:solidFill>
                <a:srgbClr val="1C2B41"/>
              </a:solidFill>
              <a:effectLst/>
              <a:latin typeface="Inter-Bold"/>
            </a:endParaRPr>
          </a:p>
          <a:p>
            <a:pPr marL="0" marR="0" lvl="0" indent="0" defTabSz="914400" rtl="0" eaLnBrk="0" fontAlgn="base" latinLnBrk="0" hangingPunct="0">
              <a:lnSpc>
                <a:spcPct val="150000"/>
              </a:lnSpc>
              <a:spcBef>
                <a:spcPct val="0"/>
              </a:spcBef>
              <a:spcAft>
                <a:spcPct val="0"/>
              </a:spcAft>
              <a:buClrTx/>
              <a:buSzTx/>
              <a:buFontTx/>
              <a:buNone/>
              <a:tabLst/>
            </a:pPr>
            <a:r>
              <a:rPr kumimoji="0" lang="en-US" sz="2000" b="0" i="0" u="none" strike="noStrike" cap="none" normalizeH="0" baseline="0" dirty="0" err="1" smtClean="0">
                <a:ln>
                  <a:noFill/>
                </a:ln>
                <a:solidFill>
                  <a:srgbClr val="6C0B24"/>
                </a:solidFill>
                <a:effectLst/>
                <a:latin typeface="Consolas" panose="020B0609020204030204" pitchFamily="49" charset="0"/>
              </a:rPr>
              <a:t>DataFrame.describe</a:t>
            </a:r>
            <a:r>
              <a:rPr kumimoji="0" lang="en-US" sz="2000" b="0" i="0" u="none" strike="noStrike" cap="none" normalizeH="0" baseline="0" dirty="0" smtClean="0">
                <a:ln>
                  <a:noFill/>
                </a:ln>
                <a:solidFill>
                  <a:srgbClr val="6C0B24"/>
                </a:solidFill>
                <a:effectLst/>
                <a:latin typeface="Consolas" panose="020B0609020204030204" pitchFamily="49" charset="0"/>
              </a:rPr>
              <a:t>()</a:t>
            </a:r>
            <a:r>
              <a:rPr kumimoji="0" lang="en-US" sz="2000" b="0" i="0" u="none" strike="noStrike" cap="none" normalizeH="0" baseline="0" dirty="0" smtClean="0">
                <a:ln>
                  <a:noFill/>
                </a:ln>
                <a:solidFill>
                  <a:srgbClr val="222222"/>
                </a:solidFill>
                <a:effectLst/>
                <a:latin typeface="Inter-Regular"/>
              </a:rPr>
              <a:t> is a function that gives mathematical statistics of the data in </a:t>
            </a:r>
            <a:r>
              <a:rPr kumimoji="0" lang="en-US" sz="2000" b="0" i="0" u="none" strike="noStrike" cap="none" normalizeH="0" baseline="0" dirty="0" err="1" smtClean="0">
                <a:ln>
                  <a:noFill/>
                </a:ln>
                <a:solidFill>
                  <a:srgbClr val="222222"/>
                </a:solidFill>
                <a:effectLst/>
                <a:latin typeface="Inter-Regular"/>
              </a:rPr>
              <a:t>DataFrame</a:t>
            </a:r>
            <a:r>
              <a:rPr kumimoji="0" lang="en-US" sz="2000" b="0" i="0" u="none" strike="noStrike" cap="none" normalizeH="0" baseline="0" dirty="0" smtClean="0">
                <a:ln>
                  <a:noFill/>
                </a:ln>
                <a:solidFill>
                  <a:srgbClr val="222222"/>
                </a:solidFill>
                <a:effectLst/>
                <a:latin typeface="Inter-Regular"/>
              </a:rPr>
              <a:t>. But, it applies to the columns that contain numeric values.</a:t>
            </a:r>
            <a:endParaRPr kumimoji="0" lang="en-US" sz="2000" b="0" i="0" u="none" strike="noStrike" cap="none" normalizeH="0" baseline="0" dirty="0" smtClean="0">
              <a:ln>
                <a:noFill/>
              </a:ln>
              <a:solidFill>
                <a:schemeClr val="tx1"/>
              </a:solidFill>
              <a:effectLst/>
            </a:endParaRPr>
          </a:p>
          <a:p>
            <a:pPr marL="0" marR="0" lvl="0" indent="0" defTabSz="914400" rtl="0" eaLnBrk="0" fontAlgn="base" latinLnBrk="0" hangingPunct="0">
              <a:lnSpc>
                <a:spcPct val="150000"/>
              </a:lnSpc>
              <a:spcBef>
                <a:spcPct val="0"/>
              </a:spcBef>
              <a:spcAft>
                <a:spcPct val="0"/>
              </a:spcAft>
              <a:buClrTx/>
              <a:buSzTx/>
              <a:buFontTx/>
              <a:buAutoNum type="arabicPeriod"/>
              <a:tabLst/>
            </a:pPr>
            <a:r>
              <a:rPr kumimoji="0" lang="en-US" sz="2000" b="1" i="0" u="none" strike="noStrike" cap="none" normalizeH="0" baseline="0" dirty="0" smtClean="0">
                <a:ln>
                  <a:noFill/>
                </a:ln>
                <a:solidFill>
                  <a:srgbClr val="222222"/>
                </a:solidFill>
                <a:effectLst/>
                <a:latin typeface="Inter-Regular"/>
              </a:rPr>
              <a:t>count</a:t>
            </a:r>
            <a:r>
              <a:rPr kumimoji="0" lang="en-US" sz="2000" b="0" i="0" u="none" strike="noStrike" cap="none" normalizeH="0" baseline="0" dirty="0" smtClean="0">
                <a:ln>
                  <a:noFill/>
                </a:ln>
                <a:solidFill>
                  <a:srgbClr val="222222"/>
                </a:solidFill>
                <a:effectLst/>
                <a:latin typeface="Inter-Regular"/>
              </a:rPr>
              <a:t>: Total number of non-null values in the column</a:t>
            </a:r>
          </a:p>
          <a:p>
            <a:pPr marL="0" marR="0" lvl="0" indent="0" defTabSz="914400" rtl="0" eaLnBrk="0" fontAlgn="base" latinLnBrk="0" hangingPunct="0">
              <a:lnSpc>
                <a:spcPct val="150000"/>
              </a:lnSpc>
              <a:spcBef>
                <a:spcPct val="0"/>
              </a:spcBef>
              <a:spcAft>
                <a:spcPct val="0"/>
              </a:spcAft>
              <a:buClrTx/>
              <a:buSzTx/>
              <a:buFontTx/>
              <a:buAutoNum type="arabicPeriod" startAt="2"/>
              <a:tabLst/>
            </a:pPr>
            <a:r>
              <a:rPr kumimoji="0" lang="en-US" sz="2000" b="1" i="0" u="none" strike="noStrike" cap="none" normalizeH="0" baseline="0" dirty="0" smtClean="0">
                <a:ln>
                  <a:noFill/>
                </a:ln>
                <a:solidFill>
                  <a:srgbClr val="222222"/>
                </a:solidFill>
                <a:effectLst/>
                <a:latin typeface="Inter-Regular"/>
              </a:rPr>
              <a:t>mean</a:t>
            </a:r>
            <a:r>
              <a:rPr kumimoji="0" lang="en-US" sz="2000" b="0" i="0" u="none" strike="noStrike" cap="none" normalizeH="0" baseline="0" dirty="0" smtClean="0">
                <a:ln>
                  <a:noFill/>
                </a:ln>
                <a:solidFill>
                  <a:srgbClr val="222222"/>
                </a:solidFill>
                <a:effectLst/>
                <a:latin typeface="Inter-Regular"/>
              </a:rPr>
              <a:t>: an average of numbers</a:t>
            </a:r>
          </a:p>
          <a:p>
            <a:pPr marL="0" marR="0" lvl="0" indent="0" defTabSz="914400" rtl="0" eaLnBrk="0" fontAlgn="base" latinLnBrk="0" hangingPunct="0">
              <a:lnSpc>
                <a:spcPct val="150000"/>
              </a:lnSpc>
              <a:spcBef>
                <a:spcPct val="0"/>
              </a:spcBef>
              <a:spcAft>
                <a:spcPct val="0"/>
              </a:spcAft>
              <a:buClrTx/>
              <a:buSzTx/>
              <a:buFontTx/>
              <a:buAutoNum type="arabicPeriod" startAt="3"/>
              <a:tabLst/>
            </a:pPr>
            <a:r>
              <a:rPr kumimoji="0" lang="en-US" sz="2000" b="1" i="0" u="none" strike="noStrike" cap="none" normalizeH="0" baseline="0" dirty="0" err="1" smtClean="0">
                <a:ln>
                  <a:noFill/>
                </a:ln>
                <a:solidFill>
                  <a:srgbClr val="222222"/>
                </a:solidFill>
                <a:effectLst/>
                <a:latin typeface="Inter-Regular"/>
              </a:rPr>
              <a:t>std</a:t>
            </a:r>
            <a:r>
              <a:rPr kumimoji="0" lang="en-US" sz="2000" b="0" i="0" u="none" strike="noStrike" cap="none" normalizeH="0" baseline="0" dirty="0" smtClean="0">
                <a:ln>
                  <a:noFill/>
                </a:ln>
                <a:solidFill>
                  <a:srgbClr val="222222"/>
                </a:solidFill>
                <a:effectLst/>
                <a:latin typeface="Inter-Regular"/>
              </a:rPr>
              <a:t>: a standard deviation value</a:t>
            </a:r>
          </a:p>
          <a:p>
            <a:pPr marL="0" marR="0" lvl="0" indent="0" defTabSz="914400" rtl="0" eaLnBrk="0" fontAlgn="base" latinLnBrk="0" hangingPunct="0">
              <a:lnSpc>
                <a:spcPct val="150000"/>
              </a:lnSpc>
              <a:spcBef>
                <a:spcPct val="0"/>
              </a:spcBef>
              <a:spcAft>
                <a:spcPct val="0"/>
              </a:spcAft>
              <a:buClrTx/>
              <a:buSzTx/>
              <a:buFontTx/>
              <a:buAutoNum type="arabicPeriod" startAt="4"/>
              <a:tabLst/>
            </a:pPr>
            <a:r>
              <a:rPr kumimoji="0" lang="en-US" sz="2000" b="1" i="0" u="none" strike="noStrike" cap="none" normalizeH="0" baseline="0" dirty="0" smtClean="0">
                <a:ln>
                  <a:noFill/>
                </a:ln>
                <a:solidFill>
                  <a:srgbClr val="222222"/>
                </a:solidFill>
                <a:effectLst/>
                <a:latin typeface="Inter-Regular"/>
              </a:rPr>
              <a:t>min</a:t>
            </a:r>
            <a:r>
              <a:rPr kumimoji="0" lang="en-US" sz="2000" b="0" i="0" u="none" strike="noStrike" cap="none" normalizeH="0" baseline="0" dirty="0" smtClean="0">
                <a:ln>
                  <a:noFill/>
                </a:ln>
                <a:solidFill>
                  <a:srgbClr val="222222"/>
                </a:solidFill>
                <a:effectLst/>
                <a:latin typeface="Inter-Regular"/>
              </a:rPr>
              <a:t>: minimum value</a:t>
            </a:r>
          </a:p>
          <a:p>
            <a:pPr marL="0" marR="0" lvl="0" indent="0" defTabSz="914400" rtl="0" eaLnBrk="0" fontAlgn="base" latinLnBrk="0" hangingPunct="0">
              <a:lnSpc>
                <a:spcPct val="150000"/>
              </a:lnSpc>
              <a:spcBef>
                <a:spcPct val="0"/>
              </a:spcBef>
              <a:spcAft>
                <a:spcPct val="0"/>
              </a:spcAft>
              <a:buClrTx/>
              <a:buSzTx/>
              <a:buFontTx/>
              <a:buAutoNum type="arabicPeriod" startAt="5"/>
              <a:tabLst/>
            </a:pPr>
            <a:r>
              <a:rPr kumimoji="0" lang="en-US" sz="2000" b="1" i="0" u="none" strike="noStrike" cap="none" normalizeH="0" baseline="0" dirty="0" smtClean="0">
                <a:ln>
                  <a:noFill/>
                </a:ln>
                <a:solidFill>
                  <a:srgbClr val="222222"/>
                </a:solidFill>
                <a:effectLst/>
                <a:latin typeface="Inter-Regular"/>
              </a:rPr>
              <a:t>25%</a:t>
            </a:r>
            <a:r>
              <a:rPr kumimoji="0" lang="en-US" sz="2000" b="0" i="0" u="none" strike="noStrike" cap="none" normalizeH="0" baseline="0" dirty="0" smtClean="0">
                <a:ln>
                  <a:noFill/>
                </a:ln>
                <a:solidFill>
                  <a:srgbClr val="222222"/>
                </a:solidFill>
                <a:effectLst/>
                <a:latin typeface="Inter-Regular"/>
              </a:rPr>
              <a:t>: 25th percentile</a:t>
            </a:r>
          </a:p>
          <a:p>
            <a:pPr marL="0" marR="0" lvl="0" indent="0" defTabSz="914400" rtl="0" eaLnBrk="0" fontAlgn="base" latinLnBrk="0" hangingPunct="0">
              <a:lnSpc>
                <a:spcPct val="150000"/>
              </a:lnSpc>
              <a:spcBef>
                <a:spcPct val="0"/>
              </a:spcBef>
              <a:spcAft>
                <a:spcPct val="0"/>
              </a:spcAft>
              <a:buClrTx/>
              <a:buSzTx/>
              <a:buFontTx/>
              <a:buAutoNum type="arabicPeriod" startAt="6"/>
              <a:tabLst/>
            </a:pPr>
            <a:r>
              <a:rPr kumimoji="0" lang="en-US" sz="2000" b="1" i="0" u="none" strike="noStrike" cap="none" normalizeH="0" baseline="0" dirty="0" smtClean="0">
                <a:ln>
                  <a:noFill/>
                </a:ln>
                <a:solidFill>
                  <a:srgbClr val="222222"/>
                </a:solidFill>
                <a:effectLst/>
                <a:latin typeface="Inter-Regular"/>
              </a:rPr>
              <a:t>50%</a:t>
            </a:r>
            <a:r>
              <a:rPr kumimoji="0" lang="en-US" sz="2000" b="0" i="0" u="none" strike="noStrike" cap="none" normalizeH="0" baseline="0" dirty="0" smtClean="0">
                <a:ln>
                  <a:noFill/>
                </a:ln>
                <a:solidFill>
                  <a:srgbClr val="222222"/>
                </a:solidFill>
                <a:effectLst/>
                <a:latin typeface="Inter-Regular"/>
              </a:rPr>
              <a:t>: 50th percentile</a:t>
            </a:r>
          </a:p>
          <a:p>
            <a:pPr marL="0" marR="0" lvl="0" indent="0" defTabSz="914400" rtl="0" eaLnBrk="0" fontAlgn="base" latinLnBrk="0" hangingPunct="0">
              <a:lnSpc>
                <a:spcPct val="150000"/>
              </a:lnSpc>
              <a:spcBef>
                <a:spcPct val="0"/>
              </a:spcBef>
              <a:spcAft>
                <a:spcPct val="0"/>
              </a:spcAft>
              <a:buClrTx/>
              <a:buSzTx/>
              <a:buFontTx/>
              <a:buAutoNum type="arabicPeriod" startAt="7"/>
              <a:tabLst/>
            </a:pPr>
            <a:r>
              <a:rPr kumimoji="0" lang="en-US" sz="2000" b="1" i="0" u="none" strike="noStrike" cap="none" normalizeH="0" baseline="0" dirty="0" smtClean="0">
                <a:ln>
                  <a:noFill/>
                </a:ln>
                <a:solidFill>
                  <a:srgbClr val="222222"/>
                </a:solidFill>
                <a:effectLst/>
                <a:latin typeface="Inter-Regular"/>
              </a:rPr>
              <a:t>75%</a:t>
            </a:r>
            <a:r>
              <a:rPr kumimoji="0" lang="en-US" sz="2000" b="0" i="0" u="none" strike="noStrike" cap="none" normalizeH="0" baseline="0" dirty="0" smtClean="0">
                <a:ln>
                  <a:noFill/>
                </a:ln>
                <a:solidFill>
                  <a:srgbClr val="222222"/>
                </a:solidFill>
                <a:effectLst/>
                <a:latin typeface="Inter-Regular"/>
              </a:rPr>
              <a:t>: 75th percentile</a:t>
            </a:r>
          </a:p>
          <a:p>
            <a:pPr marL="0" marR="0" lvl="0" indent="0" defTabSz="914400" rtl="0" eaLnBrk="0" fontAlgn="base" latinLnBrk="0" hangingPunct="0">
              <a:lnSpc>
                <a:spcPct val="150000"/>
              </a:lnSpc>
              <a:spcBef>
                <a:spcPct val="0"/>
              </a:spcBef>
              <a:spcAft>
                <a:spcPct val="0"/>
              </a:spcAft>
              <a:buClrTx/>
              <a:buSzTx/>
              <a:buFontTx/>
              <a:buAutoNum type="arabicPeriod" startAt="8"/>
              <a:tabLst/>
            </a:pPr>
            <a:r>
              <a:rPr kumimoji="0" lang="en-US" sz="2000" b="1" i="0" u="none" strike="noStrike" cap="none" normalizeH="0" baseline="0" dirty="0" smtClean="0">
                <a:ln>
                  <a:noFill/>
                </a:ln>
                <a:solidFill>
                  <a:srgbClr val="222222"/>
                </a:solidFill>
                <a:effectLst/>
                <a:latin typeface="Inter-Regular"/>
              </a:rPr>
              <a:t>max</a:t>
            </a:r>
            <a:r>
              <a:rPr kumimoji="0" lang="en-US" sz="2000" b="0" i="0" u="none" strike="noStrike" cap="none" normalizeH="0" baseline="0" dirty="0" smtClean="0">
                <a:ln>
                  <a:noFill/>
                </a:ln>
                <a:solidFill>
                  <a:srgbClr val="222222"/>
                </a:solidFill>
                <a:effectLst/>
                <a:latin typeface="Inter-Regular"/>
              </a:rPr>
              <a:t>: maximum value</a:t>
            </a:r>
          </a:p>
        </p:txBody>
      </p:sp>
    </p:spTree>
    <p:extLst>
      <p:ext uri="{BB962C8B-B14F-4D97-AF65-F5344CB8AC3E}">
        <p14:creationId xmlns:p14="http://schemas.microsoft.com/office/powerpoint/2010/main" xmlns="" val="175655392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96947" y="146712"/>
            <a:ext cx="11854025" cy="1477328"/>
          </a:xfrm>
          <a:prstGeom prst="rect">
            <a:avLst/>
          </a:prstGeom>
        </p:spPr>
        <p:txBody>
          <a:bodyPr wrap="square">
            <a:spAutoFit/>
          </a:bodyPr>
          <a:lstStyle/>
          <a:p>
            <a:pPr>
              <a:lnSpc>
                <a:spcPct val="150000"/>
              </a:lnSpc>
            </a:pPr>
            <a:r>
              <a:rPr lang="en-US" sz="2000" b="1" i="0" dirty="0" err="1" smtClean="0">
                <a:solidFill>
                  <a:srgbClr val="1C2B41"/>
                </a:solidFill>
                <a:effectLst/>
                <a:latin typeface="Inter-Bold"/>
              </a:rPr>
              <a:t>DataFrame</a:t>
            </a:r>
            <a:r>
              <a:rPr lang="en-US" sz="2000" b="1" i="0" dirty="0" smtClean="0">
                <a:solidFill>
                  <a:srgbClr val="1C2B41"/>
                </a:solidFill>
                <a:effectLst/>
                <a:latin typeface="Inter-Bold"/>
              </a:rPr>
              <a:t> Attributes</a:t>
            </a:r>
          </a:p>
          <a:p>
            <a:pPr>
              <a:lnSpc>
                <a:spcPct val="150000"/>
              </a:lnSpc>
            </a:pPr>
            <a:r>
              <a:rPr lang="en-US" sz="2000" dirty="0" err="1"/>
              <a:t>DataFrame</a:t>
            </a:r>
            <a:r>
              <a:rPr lang="en-US" sz="2000" dirty="0"/>
              <a:t> has provided many built-in attributes. Attributes do not modify the underlying data, unlike functions, but it is used to get more details about the </a:t>
            </a:r>
            <a:r>
              <a:rPr lang="en-US" sz="2000" dirty="0" err="1"/>
              <a:t>DataFrame</a:t>
            </a:r>
            <a:r>
              <a:rPr lang="en-US" sz="2000" dirty="0" smtClean="0"/>
              <a:t>.</a:t>
            </a:r>
            <a:endParaRPr lang="en-US" sz="2000" dirty="0"/>
          </a:p>
        </p:txBody>
      </p:sp>
      <p:pic>
        <p:nvPicPr>
          <p:cNvPr id="3" name="Picture 2"/>
          <p:cNvPicPr>
            <a:picLocks noChangeAspect="1"/>
          </p:cNvPicPr>
          <p:nvPr/>
        </p:nvPicPr>
        <p:blipFill rotWithShape="1">
          <a:blip r:embed="rId2" cstate="print"/>
          <a:srcRect l="20245" t="26632" r="25106" b="8628"/>
          <a:stretch/>
        </p:blipFill>
        <p:spPr>
          <a:xfrm>
            <a:off x="2442949" y="1610437"/>
            <a:ext cx="7110484" cy="5145206"/>
          </a:xfrm>
          <a:prstGeom prst="rect">
            <a:avLst/>
          </a:prstGeom>
        </p:spPr>
      </p:pic>
    </p:spTree>
    <p:extLst>
      <p:ext uri="{BB962C8B-B14F-4D97-AF65-F5344CB8AC3E}">
        <p14:creationId xmlns:p14="http://schemas.microsoft.com/office/powerpoint/2010/main" xmlns="" val="11591355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1958" y="95536"/>
            <a:ext cx="11470235" cy="2352952"/>
          </a:xfrm>
          <a:prstGeom prst="rect">
            <a:avLst/>
          </a:prstGeom>
        </p:spPr>
        <p:txBody>
          <a:bodyPr wrap="square">
            <a:spAutoFit/>
          </a:bodyPr>
          <a:lstStyle/>
          <a:p>
            <a:pPr algn="just">
              <a:lnSpc>
                <a:spcPct val="150000"/>
              </a:lnSpc>
            </a:pPr>
            <a:r>
              <a:rPr lang="en-US" sz="2000" b="1" i="0" dirty="0" err="1" smtClean="0">
                <a:solidFill>
                  <a:srgbClr val="1C2B41"/>
                </a:solidFill>
                <a:effectLst/>
                <a:latin typeface="Inter-Bold"/>
              </a:rPr>
              <a:t>DataFrame</a:t>
            </a:r>
            <a:r>
              <a:rPr lang="en-US" sz="2000" b="1" i="0" dirty="0" smtClean="0">
                <a:solidFill>
                  <a:srgbClr val="1C2B41"/>
                </a:solidFill>
                <a:effectLst/>
                <a:latin typeface="Inter-Bold"/>
              </a:rPr>
              <a:t> selection</a:t>
            </a:r>
          </a:p>
          <a:p>
            <a:pPr algn="just">
              <a:lnSpc>
                <a:spcPct val="150000"/>
              </a:lnSpc>
            </a:pPr>
            <a:r>
              <a:rPr lang="en-US" sz="2000" dirty="0"/>
              <a:t>While dealing with the vast data in </a:t>
            </a:r>
            <a:r>
              <a:rPr lang="en-US" sz="2000" dirty="0" err="1"/>
              <a:t>DataFrame</a:t>
            </a:r>
            <a:r>
              <a:rPr lang="en-US" sz="2000" dirty="0"/>
              <a:t>, a data analyst always needs to select a particular row or column for the analysis. In such cases, functions that can choose a set of rows or columns like top rows, bottom rows, or data within an index range play a significant role</a:t>
            </a:r>
            <a:r>
              <a:rPr lang="en-US" sz="2000" dirty="0" smtClean="0"/>
              <a:t>. Following </a:t>
            </a:r>
            <a:r>
              <a:rPr lang="en-US" sz="2000" dirty="0"/>
              <a:t>are the functions that help in selecting the subset of the </a:t>
            </a:r>
            <a:r>
              <a:rPr lang="en-US" sz="2000" dirty="0" err="1"/>
              <a:t>DataFrame</a:t>
            </a:r>
            <a:r>
              <a:rPr lang="en-US" sz="2000" dirty="0" smtClean="0"/>
              <a:t>.</a:t>
            </a:r>
            <a:endParaRPr lang="en-US" sz="2000" dirty="0"/>
          </a:p>
        </p:txBody>
      </p:sp>
    </p:spTree>
    <p:extLst>
      <p:ext uri="{BB962C8B-B14F-4D97-AF65-F5344CB8AC3E}">
        <p14:creationId xmlns:p14="http://schemas.microsoft.com/office/powerpoint/2010/main" xmlns="" val="18582902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cstate="print"/>
          <a:srcRect l="25386" t="20476" r="27727" b="9374"/>
          <a:stretch/>
        </p:blipFill>
        <p:spPr>
          <a:xfrm>
            <a:off x="655091" y="1"/>
            <a:ext cx="11245757" cy="6646918"/>
          </a:xfrm>
          <a:prstGeom prst="rect">
            <a:avLst/>
          </a:prstGeom>
        </p:spPr>
      </p:pic>
    </p:spTree>
    <p:extLst>
      <p:ext uri="{BB962C8B-B14F-4D97-AF65-F5344CB8AC3E}">
        <p14:creationId xmlns:p14="http://schemas.microsoft.com/office/powerpoint/2010/main" xmlns="" val="30175875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0083" y="151853"/>
            <a:ext cx="11950889" cy="1569660"/>
          </a:xfrm>
          <a:prstGeom prst="rect">
            <a:avLst/>
          </a:prstGeom>
        </p:spPr>
        <p:txBody>
          <a:bodyPr wrap="square">
            <a:spAutoFit/>
          </a:bodyPr>
          <a:lstStyle/>
          <a:p>
            <a:pPr>
              <a:lnSpc>
                <a:spcPct val="150000"/>
              </a:lnSpc>
            </a:pPr>
            <a:r>
              <a:rPr lang="en-US" sz="2800" b="1" dirty="0" err="1">
                <a:solidFill>
                  <a:srgbClr val="1C2B41"/>
                </a:solidFill>
                <a:latin typeface="Inter-Bold"/>
              </a:rPr>
              <a:t>DataFrame</a:t>
            </a:r>
            <a:r>
              <a:rPr lang="en-US" sz="2800" b="1" dirty="0">
                <a:solidFill>
                  <a:srgbClr val="1C2B41"/>
                </a:solidFill>
                <a:latin typeface="Inter-Bold"/>
              </a:rPr>
              <a:t> modification</a:t>
            </a:r>
          </a:p>
          <a:p>
            <a:pPr>
              <a:lnSpc>
                <a:spcPct val="150000"/>
              </a:lnSpc>
            </a:pPr>
            <a:r>
              <a:rPr lang="en-US" dirty="0" err="1">
                <a:solidFill>
                  <a:srgbClr val="222222"/>
                </a:solidFill>
                <a:latin typeface="Inter-Regular"/>
              </a:rPr>
              <a:t>DataFrame</a:t>
            </a:r>
            <a:r>
              <a:rPr lang="en-US" dirty="0">
                <a:solidFill>
                  <a:srgbClr val="222222"/>
                </a:solidFill>
                <a:latin typeface="Inter-Regular"/>
              </a:rPr>
              <a:t> is similar to any excel sheet or a database table where we need to insert new data or </a:t>
            </a:r>
            <a:r>
              <a:rPr lang="en-US" u="sng" dirty="0">
                <a:solidFill>
                  <a:srgbClr val="1E69DE"/>
                </a:solidFill>
                <a:latin typeface="Inter-Regular"/>
              </a:rPr>
              <a:t>drop columns</a:t>
            </a:r>
            <a:r>
              <a:rPr lang="en-US" dirty="0">
                <a:solidFill>
                  <a:srgbClr val="222222"/>
                </a:solidFill>
                <a:latin typeface="Inter-Regular"/>
              </a:rPr>
              <a:t> and rows if not required. Such data manipulation operations are very common on a </a:t>
            </a:r>
            <a:r>
              <a:rPr lang="en-US" dirty="0" err="1">
                <a:solidFill>
                  <a:srgbClr val="222222"/>
                </a:solidFill>
                <a:latin typeface="Inter-Regular"/>
              </a:rPr>
              <a:t>DataFrame</a:t>
            </a:r>
            <a:r>
              <a:rPr lang="en-US" dirty="0">
                <a:solidFill>
                  <a:srgbClr val="222222"/>
                </a:solidFill>
                <a:latin typeface="Inter-Regular"/>
              </a:rPr>
              <a:t>.</a:t>
            </a:r>
            <a:endParaRPr lang="en-US" b="0" i="0" dirty="0">
              <a:solidFill>
                <a:srgbClr val="222222"/>
              </a:solidFill>
              <a:effectLst/>
              <a:latin typeface="Inter-Regular"/>
            </a:endParaRPr>
          </a:p>
        </p:txBody>
      </p:sp>
      <p:sp>
        <p:nvSpPr>
          <p:cNvPr id="4" name="Rectangle 1"/>
          <p:cNvSpPr>
            <a:spLocks noChangeArrowheads="1"/>
          </p:cNvSpPr>
          <p:nvPr/>
        </p:nvSpPr>
        <p:spPr bwMode="auto">
          <a:xfrm>
            <a:off x="232012" y="1798904"/>
            <a:ext cx="11764370" cy="1881769"/>
          </a:xfrm>
          <a:prstGeom prst="rect">
            <a:avLst/>
          </a:prstGeom>
          <a:solidFill>
            <a:srgbClr val="FEFEFE"/>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0" tIns="268203" rIns="0" bIns="223767"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b="1" i="0" u="none" strike="noStrike" cap="none" normalizeH="0" baseline="0" dirty="0" smtClean="0">
                <a:ln>
                  <a:noFill/>
                </a:ln>
                <a:solidFill>
                  <a:srgbClr val="1C2B41"/>
                </a:solidFill>
                <a:effectLst/>
                <a:latin typeface="Inter-Bold"/>
              </a:rPr>
              <a:t>Insert columns</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smtClean="0">
                <a:ln>
                  <a:noFill/>
                </a:ln>
                <a:solidFill>
                  <a:srgbClr val="222222"/>
                </a:solidFill>
                <a:effectLst/>
                <a:latin typeface="Inter-Regular"/>
              </a:rPr>
              <a:t>Sometimes it is required to add a new column in the </a:t>
            </a:r>
            <a:r>
              <a:rPr kumimoji="0" lang="en-US" b="0" i="0" u="none" strike="noStrike" cap="none" normalizeH="0" baseline="0" dirty="0" err="1" smtClean="0">
                <a:ln>
                  <a:noFill/>
                </a:ln>
                <a:solidFill>
                  <a:srgbClr val="222222"/>
                </a:solidFill>
                <a:effectLst/>
                <a:latin typeface="Inter-Regular"/>
              </a:rPr>
              <a:t>DataFrame</a:t>
            </a:r>
            <a:r>
              <a:rPr kumimoji="0" lang="en-US" b="0" i="0" u="none" strike="noStrike" cap="none" normalizeH="0" baseline="0" dirty="0" smtClean="0">
                <a:ln>
                  <a:noFill/>
                </a:ln>
                <a:solidFill>
                  <a:srgbClr val="222222"/>
                </a:solidFill>
                <a:effectLst/>
                <a:latin typeface="Inter-Regular"/>
              </a:rPr>
              <a:t>. </a:t>
            </a:r>
            <a:r>
              <a:rPr kumimoji="0" lang="en-US" b="0" i="0" u="none" strike="noStrike" cap="none" normalizeH="0" baseline="0" dirty="0" err="1" smtClean="0">
                <a:ln>
                  <a:noFill/>
                </a:ln>
                <a:solidFill>
                  <a:srgbClr val="6C0B24"/>
                </a:solidFill>
                <a:effectLst/>
                <a:latin typeface="Consolas" panose="020B0609020204030204" pitchFamily="49" charset="0"/>
              </a:rPr>
              <a:t>DataFrame.insert</a:t>
            </a:r>
            <a:r>
              <a:rPr kumimoji="0" lang="en-US" b="0" i="0" u="none" strike="noStrike" cap="none" normalizeH="0" baseline="0" dirty="0" smtClean="0">
                <a:ln>
                  <a:noFill/>
                </a:ln>
                <a:solidFill>
                  <a:srgbClr val="6C0B24"/>
                </a:solidFill>
                <a:effectLst/>
                <a:latin typeface="Consolas" panose="020B0609020204030204" pitchFamily="49" charset="0"/>
              </a:rPr>
              <a:t>()</a:t>
            </a:r>
            <a:r>
              <a:rPr kumimoji="0" lang="en-US" b="0" i="0" u="none" strike="noStrike" cap="none" normalizeH="0" baseline="0" dirty="0" smtClean="0">
                <a:ln>
                  <a:noFill/>
                </a:ln>
                <a:solidFill>
                  <a:srgbClr val="222222"/>
                </a:solidFill>
                <a:effectLst/>
                <a:latin typeface="Inter-Regular"/>
              </a:rPr>
              <a:t> function is used to insert a new column in </a:t>
            </a:r>
            <a:r>
              <a:rPr kumimoji="0" lang="en-US" b="0" i="0" u="none" strike="noStrike" cap="none" normalizeH="0" baseline="0" dirty="0" err="1" smtClean="0">
                <a:ln>
                  <a:noFill/>
                </a:ln>
                <a:solidFill>
                  <a:srgbClr val="222222"/>
                </a:solidFill>
                <a:effectLst/>
                <a:latin typeface="Inter-Regular"/>
              </a:rPr>
              <a:t>DataFrame</a:t>
            </a:r>
            <a:r>
              <a:rPr kumimoji="0" lang="en-US" b="0" i="0" u="none" strike="noStrike" cap="none" normalizeH="0" baseline="0" dirty="0" smtClean="0">
                <a:ln>
                  <a:noFill/>
                </a:ln>
                <a:solidFill>
                  <a:srgbClr val="222222"/>
                </a:solidFill>
                <a:effectLst/>
                <a:latin typeface="Inter-Regular"/>
              </a:rPr>
              <a:t> at the specified position.</a:t>
            </a:r>
            <a:endParaRPr kumimoji="0" lang="en-US" b="0" i="0" u="none" strike="noStrike" cap="none" normalizeH="0" baseline="0" dirty="0" smtClean="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smtClean="0">
                <a:ln>
                  <a:noFill/>
                </a:ln>
                <a:solidFill>
                  <a:srgbClr val="222222"/>
                </a:solidFill>
                <a:effectLst/>
                <a:latin typeface="Inter-Regular"/>
              </a:rPr>
              <a:t>In the below example, we insert a new column “</a:t>
            </a:r>
            <a:r>
              <a:rPr kumimoji="0" lang="en-US" b="1" i="0" u="none" strike="noStrike" cap="none" normalizeH="0" baseline="0" dirty="0" smtClean="0">
                <a:ln>
                  <a:noFill/>
                </a:ln>
                <a:solidFill>
                  <a:srgbClr val="222222"/>
                </a:solidFill>
                <a:effectLst/>
                <a:latin typeface="Inter-Regular"/>
              </a:rPr>
              <a:t>Class</a:t>
            </a:r>
            <a:r>
              <a:rPr kumimoji="0" lang="en-US" b="0" i="0" u="none" strike="noStrike" cap="none" normalizeH="0" baseline="0" dirty="0" smtClean="0">
                <a:ln>
                  <a:noFill/>
                </a:ln>
                <a:solidFill>
                  <a:srgbClr val="222222"/>
                </a:solidFill>
                <a:effectLst/>
                <a:latin typeface="Inter-Regular"/>
              </a:rPr>
              <a:t>” as a third new column in the </a:t>
            </a:r>
            <a:r>
              <a:rPr kumimoji="0" lang="en-US" b="0" i="0" u="none" strike="noStrike" cap="none" normalizeH="0" baseline="0" dirty="0" err="1" smtClean="0">
                <a:ln>
                  <a:noFill/>
                </a:ln>
                <a:solidFill>
                  <a:srgbClr val="222222"/>
                </a:solidFill>
                <a:effectLst/>
                <a:latin typeface="Inter-Regular"/>
              </a:rPr>
              <a:t>DataFrame</a:t>
            </a:r>
            <a:r>
              <a:rPr kumimoji="0" lang="en-US" b="0" i="0" u="none" strike="noStrike" cap="none" normalizeH="0" baseline="0" dirty="0" smtClean="0">
                <a:ln>
                  <a:noFill/>
                </a:ln>
                <a:solidFill>
                  <a:srgbClr val="222222"/>
                </a:solidFill>
                <a:effectLst/>
                <a:latin typeface="Inter-Regular"/>
              </a:rPr>
              <a:t> with default value </a:t>
            </a:r>
            <a:r>
              <a:rPr kumimoji="0" lang="en-US" b="1" i="0" u="none" strike="noStrike" cap="none" normalizeH="0" baseline="0" dirty="0" smtClean="0">
                <a:ln>
                  <a:noFill/>
                </a:ln>
                <a:solidFill>
                  <a:srgbClr val="222222"/>
                </a:solidFill>
                <a:effectLst/>
                <a:latin typeface="Inter-Regular"/>
              </a:rPr>
              <a:t>‘A’</a:t>
            </a:r>
            <a:r>
              <a:rPr kumimoji="0" lang="en-US" b="0" i="0" u="none" strike="noStrike" cap="none" normalizeH="0" baseline="0" dirty="0" smtClean="0">
                <a:ln>
                  <a:noFill/>
                </a:ln>
                <a:solidFill>
                  <a:srgbClr val="222222"/>
                </a:solidFill>
                <a:effectLst/>
                <a:latin typeface="Inter-Regular"/>
              </a:rPr>
              <a:t> using the syntax:</a:t>
            </a:r>
            <a:endParaRPr kumimoji="0" lang="en-US" b="0" i="0" u="none" strike="noStrike" cap="none" normalizeH="0" baseline="0" dirty="0" smtClean="0">
              <a:ln>
                <a:noFill/>
              </a:ln>
              <a:solidFill>
                <a:schemeClr val="tx1"/>
              </a:solidFill>
              <a:effectLst/>
            </a:endParaRPr>
          </a:p>
        </p:txBody>
      </p:sp>
      <p:pic>
        <p:nvPicPr>
          <p:cNvPr id="5" name="Picture 4"/>
          <p:cNvPicPr>
            <a:picLocks noChangeAspect="1"/>
          </p:cNvPicPr>
          <p:nvPr/>
        </p:nvPicPr>
        <p:blipFill rotWithShape="1">
          <a:blip r:embed="rId2" cstate="print"/>
          <a:srcRect l="25490" t="52192" r="28357" b="40345"/>
          <a:stretch/>
        </p:blipFill>
        <p:spPr>
          <a:xfrm>
            <a:off x="423080" y="3875964"/>
            <a:ext cx="11409498" cy="1037230"/>
          </a:xfrm>
          <a:prstGeom prst="rect">
            <a:avLst/>
          </a:prstGeom>
        </p:spPr>
      </p:pic>
    </p:spTree>
    <p:extLst>
      <p:ext uri="{BB962C8B-B14F-4D97-AF65-F5344CB8AC3E}">
        <p14:creationId xmlns:p14="http://schemas.microsoft.com/office/powerpoint/2010/main" xmlns="" val="20926640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259308" y="440970"/>
            <a:ext cx="11518710" cy="4982397"/>
          </a:xfrm>
          <a:prstGeom prst="rect">
            <a:avLst/>
          </a:prstGeom>
          <a:solidFill>
            <a:srgbClr val="F9F2F4"/>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357075" tIns="0" rIns="0" bIns="179331"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50000"/>
              </a:lnSpc>
              <a:spcBef>
                <a:spcPct val="0"/>
              </a:spcBef>
              <a:spcAft>
                <a:spcPct val="0"/>
              </a:spcAft>
              <a:buClrTx/>
              <a:buSzTx/>
              <a:buFontTx/>
              <a:buNone/>
              <a:tabLst/>
            </a:pPr>
            <a:r>
              <a:rPr kumimoji="0" lang="en-US" sz="2800" b="1" i="0" u="none" strike="noStrike" cap="none" normalizeH="0" baseline="0" dirty="0" smtClean="0">
                <a:ln>
                  <a:noFill/>
                </a:ln>
                <a:solidFill>
                  <a:srgbClr val="333333"/>
                </a:solidFill>
                <a:effectLst/>
                <a:latin typeface="Inter-Bold"/>
              </a:rPr>
              <a:t>Drop columns in pandas </a:t>
            </a:r>
            <a:r>
              <a:rPr kumimoji="0" lang="en-US" sz="2800" b="1" i="0" u="none" strike="noStrike" cap="none" normalizeH="0" baseline="0" dirty="0" err="1" smtClean="0">
                <a:ln>
                  <a:noFill/>
                </a:ln>
                <a:solidFill>
                  <a:srgbClr val="333333"/>
                </a:solidFill>
                <a:effectLst/>
                <a:latin typeface="Inter-Bold"/>
              </a:rPr>
              <a:t>DataFrame</a:t>
            </a:r>
            <a:endParaRPr kumimoji="0" lang="en-US" sz="2800" b="1" i="0" u="none" strike="noStrike" cap="none" normalizeH="0" baseline="0" dirty="0" smtClean="0">
              <a:ln>
                <a:noFill/>
              </a:ln>
              <a:solidFill>
                <a:srgbClr val="333333"/>
              </a:solidFill>
              <a:effectLst/>
              <a:latin typeface="Inter-Bold"/>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US" sz="2000" b="0" i="0" u="none" strike="noStrike" cap="none" normalizeH="0" baseline="0" dirty="0" smtClean="0">
                <a:ln>
                  <a:noFill/>
                </a:ln>
                <a:solidFill>
                  <a:srgbClr val="222222"/>
                </a:solidFill>
                <a:effectLst/>
                <a:latin typeface="Inter-Regular"/>
              </a:rPr>
              <a:t>Datasets could be in any shape and form. To optimize the data analysis, we need to remove some data that is redundant or not required. This article aims to discuss all the cases of dropping single or multiple columns from a pandas </a:t>
            </a:r>
            <a:r>
              <a:rPr kumimoji="0" lang="en-US" sz="2000" b="0" i="0" u="none" strike="noStrike" cap="none" normalizeH="0" baseline="0" dirty="0" err="1" smtClean="0">
                <a:ln>
                  <a:noFill/>
                </a:ln>
                <a:solidFill>
                  <a:srgbClr val="222222"/>
                </a:solidFill>
                <a:effectLst/>
                <a:latin typeface="Inter-Regular"/>
              </a:rPr>
              <a:t>DataFrame</a:t>
            </a:r>
            <a:r>
              <a:rPr kumimoji="0" lang="en-US" sz="2000" b="0" i="0" u="none" strike="noStrike" cap="none" normalizeH="0" baseline="0" dirty="0" smtClean="0">
                <a:ln>
                  <a:noFill/>
                </a:ln>
                <a:solidFill>
                  <a:srgbClr val="222222"/>
                </a:solidFill>
                <a:effectLst/>
                <a:latin typeface="Inter-Regular"/>
              </a:rPr>
              <a:t>.</a:t>
            </a:r>
          </a:p>
          <a:p>
            <a:pPr marL="0" marR="0" lvl="0" indent="0" algn="l" defTabSz="914400" rtl="0" eaLnBrk="0" fontAlgn="base" latinLnBrk="0" hangingPunct="0">
              <a:lnSpc>
                <a:spcPct val="150000"/>
              </a:lnSpc>
              <a:spcBef>
                <a:spcPct val="0"/>
              </a:spcBef>
              <a:spcAft>
                <a:spcPct val="0"/>
              </a:spcAft>
              <a:buClrTx/>
              <a:buSzTx/>
              <a:buFontTx/>
              <a:buNone/>
              <a:tabLst/>
            </a:pPr>
            <a:endParaRPr kumimoji="0" lang="en-US" sz="2000" b="0" i="0" u="none" strike="noStrike" cap="none" normalizeH="0" baseline="0" dirty="0" smtClean="0">
              <a:ln>
                <a:noFill/>
              </a:ln>
              <a:solidFill>
                <a:srgbClr val="222222"/>
              </a:solidFill>
              <a:effectLst/>
              <a:latin typeface="Inter-Regular"/>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US" sz="2000" b="0" i="0" u="none" strike="noStrike" cap="none" normalizeH="0" baseline="0" dirty="0" smtClean="0">
                <a:ln>
                  <a:noFill/>
                </a:ln>
                <a:solidFill>
                  <a:srgbClr val="222222"/>
                </a:solidFill>
                <a:effectLst/>
                <a:latin typeface="Inter-Regular"/>
              </a:rPr>
              <a:t>The following functions are discussed in detail:</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sz="2000" b="0" i="0" u="none" strike="noStrike" cap="none" normalizeH="0" baseline="0" dirty="0" err="1" smtClean="0">
                <a:ln>
                  <a:noFill/>
                </a:ln>
                <a:solidFill>
                  <a:srgbClr val="6C0B24"/>
                </a:solidFill>
                <a:effectLst/>
                <a:latin typeface="Consolas" panose="020B0609020204030204" pitchFamily="49" charset="0"/>
              </a:rPr>
              <a:t>df.drop</a:t>
            </a:r>
            <a:r>
              <a:rPr kumimoji="0" lang="en-US" sz="2000" b="0" i="0" u="none" strike="noStrike" cap="none" normalizeH="0" baseline="0" dirty="0" smtClean="0">
                <a:ln>
                  <a:noFill/>
                </a:ln>
                <a:solidFill>
                  <a:srgbClr val="6C0B24"/>
                </a:solidFill>
                <a:effectLst/>
                <a:latin typeface="Consolas" panose="020B0609020204030204" pitchFamily="49" charset="0"/>
              </a:rPr>
              <a:t>(columns = ['col1','col2'...])</a:t>
            </a:r>
            <a:endParaRPr kumimoji="0" lang="en-US" sz="2000" b="0" i="0" u="none" strike="noStrike" cap="none" normalizeH="0" baseline="0" dirty="0" smtClean="0">
              <a:ln>
                <a:noFill/>
              </a:ln>
              <a:solidFill>
                <a:srgbClr val="222222"/>
              </a:solidFill>
              <a:effectLst/>
              <a:latin typeface="Inter-Regular"/>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sz="2000" b="0" i="0" u="none" strike="noStrike" cap="none" normalizeH="0" baseline="0" dirty="0" err="1" smtClean="0">
                <a:ln>
                  <a:noFill/>
                </a:ln>
                <a:solidFill>
                  <a:srgbClr val="6C0B24"/>
                </a:solidFill>
                <a:effectLst/>
                <a:latin typeface="Consolas" panose="020B0609020204030204" pitchFamily="49" charset="0"/>
              </a:rPr>
              <a:t>df.pop</a:t>
            </a:r>
            <a:r>
              <a:rPr kumimoji="0" lang="en-US" sz="2000" b="0" i="0" u="none" strike="noStrike" cap="none" normalizeH="0" baseline="0" dirty="0" smtClean="0">
                <a:ln>
                  <a:noFill/>
                </a:ln>
                <a:solidFill>
                  <a:srgbClr val="6C0B24"/>
                </a:solidFill>
                <a:effectLst/>
                <a:latin typeface="Consolas" panose="020B0609020204030204" pitchFamily="49" charset="0"/>
              </a:rPr>
              <a:t>('</a:t>
            </a:r>
            <a:r>
              <a:rPr kumimoji="0" lang="en-US" sz="2000" b="0" i="0" u="none" strike="noStrike" cap="none" normalizeH="0" baseline="0" dirty="0" err="1" smtClean="0">
                <a:ln>
                  <a:noFill/>
                </a:ln>
                <a:solidFill>
                  <a:srgbClr val="6C0B24"/>
                </a:solidFill>
                <a:effectLst/>
                <a:latin typeface="Consolas" panose="020B0609020204030204" pitchFamily="49" charset="0"/>
              </a:rPr>
              <a:t>col_name</a:t>
            </a:r>
            <a:r>
              <a:rPr kumimoji="0" lang="en-US" sz="2000" b="0" i="0" u="none" strike="noStrike" cap="none" normalizeH="0" baseline="0" dirty="0" smtClean="0">
                <a:ln>
                  <a:noFill/>
                </a:ln>
                <a:solidFill>
                  <a:srgbClr val="6C0B24"/>
                </a:solidFill>
                <a:effectLst/>
                <a:latin typeface="Consolas" panose="020B0609020204030204" pitchFamily="49" charset="0"/>
              </a:rPr>
              <a:t>')</a:t>
            </a:r>
            <a:endParaRPr kumimoji="0" lang="en-US" sz="2000" b="0" i="0" u="none" strike="noStrike" cap="none" normalizeH="0" baseline="0" dirty="0" smtClean="0">
              <a:ln>
                <a:noFill/>
              </a:ln>
              <a:solidFill>
                <a:srgbClr val="222222"/>
              </a:solidFill>
              <a:effectLst/>
              <a:latin typeface="Inter-Regular"/>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sz="2000" b="0" i="0" u="none" strike="noStrike" cap="none" normalizeH="0" baseline="0" dirty="0" smtClean="0">
                <a:ln>
                  <a:noFill/>
                </a:ln>
                <a:solidFill>
                  <a:srgbClr val="6C0B24"/>
                </a:solidFill>
                <a:effectLst/>
                <a:latin typeface="Consolas" panose="020B0609020204030204" pitchFamily="49" charset="0"/>
              </a:rPr>
              <a:t>del </a:t>
            </a:r>
            <a:r>
              <a:rPr kumimoji="0" lang="en-US" sz="2000" b="0" i="0" u="none" strike="noStrike" cap="none" normalizeH="0" baseline="0" dirty="0" err="1" smtClean="0">
                <a:ln>
                  <a:noFill/>
                </a:ln>
                <a:solidFill>
                  <a:srgbClr val="6C0B24"/>
                </a:solidFill>
                <a:effectLst/>
                <a:latin typeface="Consolas" panose="020B0609020204030204" pitchFamily="49" charset="0"/>
              </a:rPr>
              <a:t>df</a:t>
            </a:r>
            <a:r>
              <a:rPr kumimoji="0" lang="en-US" sz="2000" b="0" i="0" u="none" strike="noStrike" cap="none" normalizeH="0" baseline="0" dirty="0" smtClean="0">
                <a:ln>
                  <a:noFill/>
                </a:ln>
                <a:solidFill>
                  <a:srgbClr val="6C0B24"/>
                </a:solidFill>
                <a:effectLst/>
                <a:latin typeface="Consolas" panose="020B0609020204030204" pitchFamily="49" charset="0"/>
              </a:rPr>
              <a:t>['</a:t>
            </a:r>
            <a:r>
              <a:rPr kumimoji="0" lang="en-US" sz="2000" b="0" i="0" u="none" strike="noStrike" cap="none" normalizeH="0" baseline="0" dirty="0" err="1" smtClean="0">
                <a:ln>
                  <a:noFill/>
                </a:ln>
                <a:solidFill>
                  <a:srgbClr val="6C0B24"/>
                </a:solidFill>
                <a:effectLst/>
                <a:latin typeface="Consolas" panose="020B0609020204030204" pitchFamily="49" charset="0"/>
              </a:rPr>
              <a:t>col_name</a:t>
            </a:r>
            <a:r>
              <a:rPr kumimoji="0" lang="en-US" sz="2000" b="0" i="0" u="none" strike="noStrike" cap="none" normalizeH="0" baseline="0" dirty="0" smtClean="0">
                <a:ln>
                  <a:noFill/>
                </a:ln>
                <a:solidFill>
                  <a:srgbClr val="6C0B24"/>
                </a:solidFill>
                <a:effectLst/>
                <a:latin typeface="Consolas" panose="020B0609020204030204" pitchFamily="49" charset="0"/>
              </a:rPr>
              <a:t>']</a:t>
            </a:r>
            <a:endParaRPr kumimoji="0" lang="en-US" sz="2000" b="0" i="0" u="none" strike="noStrike" cap="none" normalizeH="0" baseline="0" dirty="0" smtClean="0">
              <a:ln>
                <a:noFill/>
              </a:ln>
              <a:solidFill>
                <a:srgbClr val="222222"/>
              </a:solidFill>
              <a:effectLst/>
              <a:latin typeface="Inter-Regular"/>
            </a:endParaRPr>
          </a:p>
          <a:p>
            <a:pPr marL="0" marR="0" lvl="0" indent="0" algn="l" defTabSz="914400" rtl="0" eaLnBrk="0" fontAlgn="base" latinLnBrk="0" hangingPunct="0">
              <a:lnSpc>
                <a:spcPct val="150000"/>
              </a:lnSpc>
              <a:spcBef>
                <a:spcPct val="0"/>
              </a:spcBef>
              <a:spcAft>
                <a:spcPct val="0"/>
              </a:spcAft>
              <a:buClrTx/>
              <a:buSzTx/>
              <a:buFontTx/>
              <a:buNone/>
              <a:tabLst/>
            </a:pPr>
            <a:endParaRPr kumimoji="0" lang="en-US" sz="2000" b="0" i="0" u="none" strike="noStrike" cap="none" normalizeH="0" baseline="0" dirty="0" smtClean="0">
              <a:ln>
                <a:noFill/>
              </a:ln>
              <a:solidFill>
                <a:schemeClr val="tx1"/>
              </a:solidFill>
              <a:effectLst/>
            </a:endParaRPr>
          </a:p>
        </p:txBody>
      </p:sp>
    </p:spTree>
    <p:extLst>
      <p:ext uri="{BB962C8B-B14F-4D97-AF65-F5344CB8AC3E}">
        <p14:creationId xmlns:p14="http://schemas.microsoft.com/office/powerpoint/2010/main" xmlns="" val="15626570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177420" y="166142"/>
            <a:ext cx="11887200" cy="1276475"/>
          </a:xfrm>
          <a:prstGeom prst="rect">
            <a:avLst/>
          </a:prstGeom>
          <a:solidFill>
            <a:srgbClr val="F9F2F4"/>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0" tIns="268203" rIns="0" bIns="223767"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b="1" i="0" u="none" strike="noStrike" cap="none" normalizeH="0" baseline="0" dirty="0" smtClean="0">
                <a:ln>
                  <a:noFill/>
                </a:ln>
                <a:solidFill>
                  <a:srgbClr val="1C2B41"/>
                </a:solidFill>
                <a:effectLst/>
                <a:latin typeface="Inter-Bold"/>
              </a:rPr>
              <a:t>The </a:t>
            </a:r>
            <a:r>
              <a:rPr kumimoji="0" lang="en-US" b="1" i="0" u="none" strike="noStrike" cap="none" normalizeH="0" baseline="0" dirty="0" smtClean="0">
                <a:ln>
                  <a:noFill/>
                </a:ln>
                <a:solidFill>
                  <a:srgbClr val="1C2B41"/>
                </a:solidFill>
                <a:effectLst/>
                <a:latin typeface="Consolas" panose="020B0609020204030204" pitchFamily="49" charset="0"/>
              </a:rPr>
              <a:t>DataFrame.drop()</a:t>
            </a:r>
            <a:r>
              <a:rPr kumimoji="0" lang="en-US" b="1" i="0" u="none" strike="noStrike" cap="none" normalizeH="0" baseline="0" dirty="0" smtClean="0">
                <a:ln>
                  <a:noFill/>
                </a:ln>
                <a:solidFill>
                  <a:srgbClr val="1C2B41"/>
                </a:solidFill>
                <a:effectLst/>
                <a:latin typeface="Inter-Bold"/>
              </a:rPr>
              <a:t> function</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b="0" i="0" u="none" strike="noStrike" cap="none" normalizeH="0" baseline="0" dirty="0" smtClean="0">
                <a:ln>
                  <a:noFill/>
                </a:ln>
                <a:solidFill>
                  <a:srgbClr val="222222"/>
                </a:solidFill>
                <a:effectLst/>
                <a:latin typeface="Inter-Regular"/>
              </a:rPr>
              <a:t>We can use this pandas function to remove the columns or rows from simple as well as multi-index </a:t>
            </a:r>
            <a:r>
              <a:rPr kumimoji="0" lang="en-US" b="0" i="0" u="none" strike="noStrike" cap="none" normalizeH="0" baseline="0" dirty="0" err="1" smtClean="0">
                <a:ln>
                  <a:noFill/>
                </a:ln>
                <a:solidFill>
                  <a:srgbClr val="222222"/>
                </a:solidFill>
                <a:effectLst/>
                <a:latin typeface="Inter-Regular"/>
              </a:rPr>
              <a:t>DataFrame</a:t>
            </a:r>
            <a:r>
              <a:rPr kumimoji="0" lang="en-US" b="0" i="0" u="none" strike="noStrike" cap="none" normalizeH="0" baseline="0" dirty="0" smtClean="0">
                <a:ln>
                  <a:noFill/>
                </a:ln>
                <a:solidFill>
                  <a:srgbClr val="222222"/>
                </a:solidFill>
                <a:effectLst/>
                <a:latin typeface="Inter-Regular"/>
              </a:rPr>
              <a:t>.</a:t>
            </a:r>
            <a:endParaRPr kumimoji="0" lang="en-US" b="0" i="0" u="none" strike="noStrike" cap="none" normalizeH="0" baseline="0" dirty="0" smtClean="0">
              <a:ln>
                <a:noFill/>
              </a:ln>
              <a:solidFill>
                <a:schemeClr val="tx1"/>
              </a:solidFill>
              <a:effectLst/>
            </a:endParaRPr>
          </a:p>
        </p:txBody>
      </p:sp>
      <p:sp>
        <p:nvSpPr>
          <p:cNvPr id="3" name="Rectangle 2"/>
          <p:cNvSpPr/>
          <p:nvPr/>
        </p:nvSpPr>
        <p:spPr>
          <a:xfrm>
            <a:off x="136479" y="1302308"/>
            <a:ext cx="11709778" cy="369332"/>
          </a:xfrm>
          <a:prstGeom prst="rect">
            <a:avLst/>
          </a:prstGeom>
        </p:spPr>
        <p:txBody>
          <a:bodyPr wrap="square">
            <a:spAutoFit/>
          </a:bodyPr>
          <a:lstStyle/>
          <a:p>
            <a:r>
              <a:rPr lang="en-US" dirty="0" err="1">
                <a:latin typeface="Consolas" panose="020B0609020204030204" pitchFamily="49" charset="0"/>
              </a:rPr>
              <a:t>DataFrame.drop</a:t>
            </a:r>
            <a:r>
              <a:rPr lang="en-US" dirty="0">
                <a:latin typeface="Consolas" panose="020B0609020204030204" pitchFamily="49" charset="0"/>
              </a:rPr>
              <a:t>(labels=None, axis=1, columns=None, level=None, </a:t>
            </a:r>
            <a:r>
              <a:rPr lang="en-US" dirty="0" err="1" smtClean="0">
                <a:latin typeface="Consolas" panose="020B0609020204030204" pitchFamily="49" charset="0"/>
              </a:rPr>
              <a:t>inplace</a:t>
            </a:r>
            <a:r>
              <a:rPr lang="en-US" dirty="0" smtClean="0">
                <a:latin typeface="Consolas" panose="020B0609020204030204" pitchFamily="49" charset="0"/>
              </a:rPr>
              <a:t>=</a:t>
            </a:r>
            <a:r>
              <a:rPr lang="en-US" dirty="0" err="1" smtClean="0">
                <a:latin typeface="Consolas" panose="020B0609020204030204" pitchFamily="49" charset="0"/>
              </a:rPr>
              <a:t>False,errors</a:t>
            </a:r>
            <a:r>
              <a:rPr lang="en-US" dirty="0">
                <a:latin typeface="Consolas" panose="020B0609020204030204" pitchFamily="49" charset="0"/>
              </a:rPr>
              <a:t>='raise')</a:t>
            </a:r>
            <a:endParaRPr lang="en-US" dirty="0"/>
          </a:p>
        </p:txBody>
      </p:sp>
      <p:sp>
        <p:nvSpPr>
          <p:cNvPr id="4" name="Rectangle 2"/>
          <p:cNvSpPr>
            <a:spLocks noChangeArrowheads="1"/>
          </p:cNvSpPr>
          <p:nvPr/>
        </p:nvSpPr>
        <p:spPr bwMode="auto">
          <a:xfrm>
            <a:off x="0" y="1644986"/>
            <a:ext cx="11982735" cy="4182178"/>
          </a:xfrm>
          <a:prstGeom prst="rect">
            <a:avLst/>
          </a:prstGeom>
          <a:solidFill>
            <a:srgbClr val="FEFEFE"/>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357075" tIns="0" rIns="0" bIns="179331"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1" i="0" u="none" strike="noStrike" cap="none" normalizeH="0" baseline="0" dirty="0" smtClean="0">
                <a:ln>
                  <a:noFill/>
                </a:ln>
                <a:solidFill>
                  <a:srgbClr val="222222"/>
                </a:solidFill>
                <a:effectLst/>
                <a:latin typeface="Inter-Regular"/>
              </a:rPr>
              <a:t>Parameters:</a:t>
            </a:r>
            <a:endParaRPr kumimoji="0" lang="en-US" sz="20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sz="2000" b="1" i="0" u="none" strike="noStrike" cap="none" normalizeH="0" baseline="0" dirty="0" smtClean="0">
                <a:ln>
                  <a:noFill/>
                </a:ln>
                <a:solidFill>
                  <a:srgbClr val="6C0B24"/>
                </a:solidFill>
                <a:effectLst/>
                <a:latin typeface="Consolas" panose="020B0609020204030204" pitchFamily="49" charset="0"/>
              </a:rPr>
              <a:t>labels</a:t>
            </a:r>
            <a:r>
              <a:rPr kumimoji="0" lang="en-US" sz="2000" b="0" i="0" u="none" strike="noStrike" cap="none" normalizeH="0" baseline="0" dirty="0" smtClean="0">
                <a:ln>
                  <a:noFill/>
                </a:ln>
                <a:solidFill>
                  <a:srgbClr val="222222"/>
                </a:solidFill>
                <a:effectLst/>
                <a:latin typeface="Inter-Regular"/>
              </a:rPr>
              <a:t>: It takes a list of column labels to drop.</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sz="2000" b="1" i="0" u="none" strike="noStrike" cap="none" normalizeH="0" baseline="0" dirty="0" smtClean="0">
                <a:ln>
                  <a:noFill/>
                </a:ln>
                <a:solidFill>
                  <a:srgbClr val="6C0B24"/>
                </a:solidFill>
                <a:effectLst/>
                <a:latin typeface="Consolas" panose="020B0609020204030204" pitchFamily="49" charset="0"/>
              </a:rPr>
              <a:t>axis</a:t>
            </a:r>
            <a:r>
              <a:rPr kumimoji="0" lang="en-US" sz="2000" b="0" i="0" u="none" strike="noStrike" cap="none" normalizeH="0" baseline="0" dirty="0" smtClean="0">
                <a:ln>
                  <a:noFill/>
                </a:ln>
                <a:solidFill>
                  <a:srgbClr val="222222"/>
                </a:solidFill>
                <a:effectLst/>
                <a:latin typeface="Inter-Regular"/>
              </a:rPr>
              <a:t>: It specifies to drop columns or rows. set a </a:t>
            </a:r>
            <a:r>
              <a:rPr kumimoji="0" lang="en-US" sz="2000" b="0" i="0" u="none" strike="noStrike" cap="none" normalizeH="0" baseline="0" dirty="0" smtClean="0">
                <a:ln>
                  <a:noFill/>
                </a:ln>
                <a:solidFill>
                  <a:srgbClr val="6C0B24"/>
                </a:solidFill>
                <a:effectLst/>
                <a:latin typeface="Consolas" panose="020B0609020204030204" pitchFamily="49" charset="0"/>
              </a:rPr>
              <a:t>axis</a:t>
            </a:r>
            <a:r>
              <a:rPr kumimoji="0" lang="en-US" sz="2000" b="0" i="0" u="none" strike="noStrike" cap="none" normalizeH="0" baseline="0" dirty="0" smtClean="0">
                <a:ln>
                  <a:noFill/>
                </a:ln>
                <a:solidFill>
                  <a:srgbClr val="222222"/>
                </a:solidFill>
                <a:effectLst/>
                <a:latin typeface="Inter-Regular"/>
              </a:rPr>
              <a:t> to </a:t>
            </a:r>
            <a:r>
              <a:rPr kumimoji="0" lang="en-US" sz="2000" b="1" i="0" u="none" strike="noStrike" cap="none" normalizeH="0" baseline="0" dirty="0" smtClean="0">
                <a:ln>
                  <a:noFill/>
                </a:ln>
                <a:solidFill>
                  <a:srgbClr val="222222"/>
                </a:solidFill>
                <a:effectLst/>
                <a:latin typeface="Inter-Regular"/>
              </a:rPr>
              <a:t>1</a:t>
            </a:r>
            <a:r>
              <a:rPr kumimoji="0" lang="en-US" sz="2000" b="0" i="0" u="none" strike="noStrike" cap="none" normalizeH="0" baseline="0" dirty="0" smtClean="0">
                <a:ln>
                  <a:noFill/>
                </a:ln>
                <a:solidFill>
                  <a:srgbClr val="222222"/>
                </a:solidFill>
                <a:effectLst/>
                <a:latin typeface="Inter-Regular"/>
              </a:rPr>
              <a:t> or ‘</a:t>
            </a:r>
            <a:r>
              <a:rPr kumimoji="0" lang="en-US" sz="2000" b="1" i="0" u="none" strike="noStrike" cap="none" normalizeH="0" baseline="0" dirty="0" smtClean="0">
                <a:ln>
                  <a:noFill/>
                </a:ln>
                <a:solidFill>
                  <a:srgbClr val="222222"/>
                </a:solidFill>
                <a:effectLst/>
                <a:latin typeface="Inter-Regular"/>
              </a:rPr>
              <a:t>columns</a:t>
            </a:r>
            <a:r>
              <a:rPr kumimoji="0" lang="en-US" sz="2000" b="0" i="0" u="none" strike="noStrike" cap="none" normalizeH="0" baseline="0" dirty="0" smtClean="0">
                <a:ln>
                  <a:noFill/>
                </a:ln>
                <a:solidFill>
                  <a:srgbClr val="222222"/>
                </a:solidFill>
                <a:effectLst/>
                <a:latin typeface="Inter-Regular"/>
              </a:rPr>
              <a:t>’ to drop columns. By default, it drops the rows from </a:t>
            </a:r>
            <a:r>
              <a:rPr kumimoji="0" lang="en-US" sz="2000" b="0" i="0" u="none" strike="noStrike" cap="none" normalizeH="0" baseline="0" dirty="0" err="1" smtClean="0">
                <a:ln>
                  <a:noFill/>
                </a:ln>
                <a:solidFill>
                  <a:srgbClr val="222222"/>
                </a:solidFill>
                <a:effectLst/>
                <a:latin typeface="Inter-Regular"/>
              </a:rPr>
              <a:t>DataFrame</a:t>
            </a:r>
            <a:r>
              <a:rPr kumimoji="0" lang="en-US" sz="2000" b="0" i="0" u="none" strike="noStrike" cap="none" normalizeH="0" baseline="0" dirty="0" smtClean="0">
                <a:ln>
                  <a:noFill/>
                </a:ln>
                <a:solidFill>
                  <a:srgbClr val="222222"/>
                </a:solidFill>
                <a:effectLst/>
                <a:latin typeface="Inter-Regular"/>
              </a:rPr>
              <a:t>.</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sz="2000" b="1" i="0" u="none" strike="noStrike" cap="none" normalizeH="0" baseline="0" dirty="0" smtClean="0">
                <a:ln>
                  <a:noFill/>
                </a:ln>
                <a:solidFill>
                  <a:srgbClr val="6C0B24"/>
                </a:solidFill>
                <a:effectLst/>
                <a:latin typeface="Consolas" panose="020B0609020204030204" pitchFamily="49" charset="0"/>
              </a:rPr>
              <a:t>columns</a:t>
            </a:r>
            <a:r>
              <a:rPr kumimoji="0" lang="en-US" sz="2000" b="0" i="0" u="none" strike="noStrike" cap="none" normalizeH="0" baseline="0" dirty="0" smtClean="0">
                <a:ln>
                  <a:noFill/>
                </a:ln>
                <a:solidFill>
                  <a:srgbClr val="222222"/>
                </a:solidFill>
                <a:effectLst/>
                <a:latin typeface="Inter-Regular"/>
              </a:rPr>
              <a:t>: It is an alternative to </a:t>
            </a:r>
            <a:r>
              <a:rPr kumimoji="0" lang="en-US" sz="2000" b="0" i="0" u="none" strike="noStrike" cap="none" normalizeH="0" baseline="0" dirty="0" smtClean="0">
                <a:ln>
                  <a:noFill/>
                </a:ln>
                <a:solidFill>
                  <a:srgbClr val="6C0B24"/>
                </a:solidFill>
                <a:effectLst/>
                <a:latin typeface="Consolas" panose="020B0609020204030204" pitchFamily="49" charset="0"/>
              </a:rPr>
              <a:t>axis='columns'</a:t>
            </a:r>
            <a:r>
              <a:rPr kumimoji="0" lang="en-US" sz="2000" b="0" i="0" u="none" strike="noStrike" cap="none" normalizeH="0" baseline="0" dirty="0" smtClean="0">
                <a:ln>
                  <a:noFill/>
                </a:ln>
                <a:solidFill>
                  <a:srgbClr val="222222"/>
                </a:solidFill>
                <a:effectLst/>
                <a:latin typeface="Inter-Regular"/>
              </a:rPr>
              <a:t>. It takes a single column label or list of column labels as input.</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sz="2000" b="1" i="0" u="none" strike="noStrike" cap="none" normalizeH="0" baseline="0" dirty="0" smtClean="0">
                <a:ln>
                  <a:noFill/>
                </a:ln>
                <a:solidFill>
                  <a:srgbClr val="6C0B24"/>
                </a:solidFill>
                <a:effectLst/>
                <a:latin typeface="Consolas" panose="020B0609020204030204" pitchFamily="49" charset="0"/>
              </a:rPr>
              <a:t>level</a:t>
            </a:r>
            <a:r>
              <a:rPr kumimoji="0" lang="en-US" sz="2000" b="0" i="0" u="none" strike="noStrike" cap="none" normalizeH="0" baseline="0" dirty="0" smtClean="0">
                <a:ln>
                  <a:noFill/>
                </a:ln>
                <a:solidFill>
                  <a:srgbClr val="222222"/>
                </a:solidFill>
                <a:effectLst/>
                <a:latin typeface="Inter-Regular"/>
              </a:rPr>
              <a:t>: It is used in the case of a </a:t>
            </a:r>
            <a:r>
              <a:rPr kumimoji="0" lang="en-US" sz="2000" b="0" i="0" u="none" strike="noStrike" cap="none" normalizeH="0" baseline="0" dirty="0" err="1" smtClean="0">
                <a:ln>
                  <a:noFill/>
                </a:ln>
                <a:solidFill>
                  <a:srgbClr val="222222"/>
                </a:solidFill>
                <a:effectLst/>
                <a:latin typeface="Inter-Regular"/>
              </a:rPr>
              <a:t>MultiIndex</a:t>
            </a:r>
            <a:r>
              <a:rPr kumimoji="0" lang="en-US" sz="2000" b="0" i="0" u="none" strike="noStrike" cap="none" normalizeH="0" baseline="0" dirty="0" smtClean="0">
                <a:ln>
                  <a:noFill/>
                </a:ln>
                <a:solidFill>
                  <a:srgbClr val="222222"/>
                </a:solidFill>
                <a:effectLst/>
                <a:latin typeface="Inter-Regular"/>
              </a:rPr>
              <a:t> </a:t>
            </a:r>
            <a:r>
              <a:rPr kumimoji="0" lang="en-US" sz="2000" b="0" i="0" u="none" strike="noStrike" cap="none" normalizeH="0" baseline="0" dirty="0" err="1" smtClean="0">
                <a:ln>
                  <a:noFill/>
                </a:ln>
                <a:solidFill>
                  <a:srgbClr val="222222"/>
                </a:solidFill>
                <a:effectLst/>
                <a:latin typeface="Inter-Regular"/>
              </a:rPr>
              <a:t>DataFrame</a:t>
            </a:r>
            <a:r>
              <a:rPr kumimoji="0" lang="en-US" sz="2000" b="0" i="0" u="none" strike="noStrike" cap="none" normalizeH="0" baseline="0" dirty="0" smtClean="0">
                <a:ln>
                  <a:noFill/>
                </a:ln>
                <a:solidFill>
                  <a:srgbClr val="222222"/>
                </a:solidFill>
                <a:effectLst/>
                <a:latin typeface="Inter-Regular"/>
              </a:rPr>
              <a:t> to specify the level from which the labels should be removed. It takes a level position or level name as input.</a:t>
            </a: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sz="2000" b="1" i="0" u="none" strike="noStrike" cap="none" normalizeH="0" baseline="0" dirty="0" err="1" smtClean="0">
                <a:ln>
                  <a:noFill/>
                </a:ln>
                <a:solidFill>
                  <a:srgbClr val="6C0B24"/>
                </a:solidFill>
                <a:effectLst/>
                <a:latin typeface="Consolas" panose="020B0609020204030204" pitchFamily="49" charset="0"/>
              </a:rPr>
              <a:t>inplace</a:t>
            </a:r>
            <a:r>
              <a:rPr kumimoji="0" lang="en-US" sz="2000" b="0" i="0" u="none" strike="noStrike" cap="none" normalizeH="0" baseline="0" dirty="0" smtClean="0">
                <a:ln>
                  <a:noFill/>
                </a:ln>
                <a:solidFill>
                  <a:srgbClr val="222222"/>
                </a:solidFill>
                <a:effectLst/>
                <a:latin typeface="Inter-Regular"/>
              </a:rPr>
              <a:t>: It is used to specify whether to return a new </a:t>
            </a:r>
            <a:r>
              <a:rPr kumimoji="0" lang="en-US" sz="2000" b="0" i="0" u="none" strike="noStrike" cap="none" normalizeH="0" baseline="0" dirty="0" err="1" smtClean="0">
                <a:ln>
                  <a:noFill/>
                </a:ln>
                <a:solidFill>
                  <a:srgbClr val="222222"/>
                </a:solidFill>
                <a:effectLst/>
                <a:latin typeface="Inter-Regular"/>
              </a:rPr>
              <a:t>DataFrame</a:t>
            </a:r>
            <a:r>
              <a:rPr kumimoji="0" lang="en-US" sz="2000" b="0" i="0" u="none" strike="noStrike" cap="none" normalizeH="0" baseline="0" dirty="0" smtClean="0">
                <a:ln>
                  <a:noFill/>
                </a:ln>
                <a:solidFill>
                  <a:srgbClr val="222222"/>
                </a:solidFill>
                <a:effectLst/>
                <a:latin typeface="Inter-Regular"/>
              </a:rPr>
              <a:t> or update an existing one. It is a </a:t>
            </a:r>
            <a:r>
              <a:rPr kumimoji="0" lang="en-US" sz="2000" b="0" i="0" u="none" strike="noStrike" cap="none" normalizeH="0" baseline="0" dirty="0" err="1" smtClean="0">
                <a:ln>
                  <a:noFill/>
                </a:ln>
                <a:solidFill>
                  <a:srgbClr val="222222"/>
                </a:solidFill>
                <a:effectLst/>
                <a:latin typeface="Inter-Regular"/>
              </a:rPr>
              <a:t>boolean</a:t>
            </a:r>
            <a:r>
              <a:rPr kumimoji="0" lang="en-US" sz="2000" b="0" i="0" u="none" strike="noStrike" cap="none" normalizeH="0" baseline="0" dirty="0" smtClean="0">
                <a:ln>
                  <a:noFill/>
                </a:ln>
                <a:solidFill>
                  <a:srgbClr val="222222"/>
                </a:solidFill>
                <a:effectLst/>
                <a:latin typeface="Inter-Regular"/>
              </a:rPr>
              <a:t> flag with default </a:t>
            </a:r>
            <a:r>
              <a:rPr kumimoji="0" lang="en-US" sz="2000" b="1" i="0" u="none" strike="noStrike" cap="none" normalizeH="0" baseline="0" dirty="0" smtClean="0">
                <a:ln>
                  <a:noFill/>
                </a:ln>
                <a:solidFill>
                  <a:srgbClr val="222222"/>
                </a:solidFill>
                <a:effectLst/>
                <a:latin typeface="Inter-Regular"/>
              </a:rPr>
              <a:t>False</a:t>
            </a:r>
            <a:r>
              <a:rPr kumimoji="0" lang="en-US" sz="2000" b="0" i="0" u="none" strike="noStrike" cap="none" normalizeH="0" baseline="0" dirty="0" smtClean="0">
                <a:ln>
                  <a:noFill/>
                </a:ln>
                <a:solidFill>
                  <a:srgbClr val="222222"/>
                </a:solidFill>
                <a:effectLst/>
                <a:latin typeface="Inter-Regular"/>
              </a:rPr>
              <a:t>.</a:t>
            </a:r>
          </a:p>
          <a:p>
            <a:pPr marL="0" marR="0" lvl="0" indent="0" algn="l" defTabSz="914400" rtl="0" eaLnBrk="0" fontAlgn="base" latinLnBrk="0" hangingPunct="0">
              <a:lnSpc>
                <a:spcPct val="100000"/>
              </a:lnSpc>
              <a:spcBef>
                <a:spcPct val="0"/>
              </a:spcBef>
              <a:spcAft>
                <a:spcPct val="0"/>
              </a:spcAft>
              <a:buClrTx/>
              <a:buSzTx/>
              <a:buFontTx/>
              <a:buAutoNum type="arabicPeriod" startAt="6"/>
              <a:tabLst/>
            </a:pPr>
            <a:r>
              <a:rPr kumimoji="0" lang="en-US" sz="2000" b="1" i="0" u="none" strike="noStrike" cap="none" normalizeH="0" baseline="0" dirty="0" smtClean="0">
                <a:ln>
                  <a:noFill/>
                </a:ln>
                <a:solidFill>
                  <a:srgbClr val="6C0B24"/>
                </a:solidFill>
                <a:effectLst/>
                <a:latin typeface="Consolas" panose="020B0609020204030204" pitchFamily="49" charset="0"/>
              </a:rPr>
              <a:t>errors</a:t>
            </a:r>
            <a:r>
              <a:rPr kumimoji="0" lang="en-US" sz="2000" b="0" i="0" u="none" strike="noStrike" cap="none" normalizeH="0" baseline="0" dirty="0" smtClean="0">
                <a:ln>
                  <a:noFill/>
                </a:ln>
                <a:solidFill>
                  <a:srgbClr val="222222"/>
                </a:solidFill>
                <a:effectLst/>
                <a:latin typeface="Inter-Regular"/>
              </a:rPr>
              <a:t>: It is used to suppress </a:t>
            </a:r>
            <a:r>
              <a:rPr kumimoji="0" lang="en-US" sz="2000" b="1" i="0" u="none" strike="noStrike" cap="none" normalizeH="0" baseline="0" dirty="0" err="1" smtClean="0">
                <a:ln>
                  <a:noFill/>
                </a:ln>
                <a:solidFill>
                  <a:srgbClr val="6C0B24"/>
                </a:solidFill>
                <a:effectLst/>
                <a:latin typeface="Consolas" panose="020B0609020204030204" pitchFamily="49" charset="0"/>
              </a:rPr>
              <a:t>KeyError</a:t>
            </a:r>
            <a:r>
              <a:rPr kumimoji="0" lang="en-US" sz="2000" b="0" i="0" u="none" strike="noStrike" cap="none" normalizeH="0" baseline="0" dirty="0" smtClean="0">
                <a:ln>
                  <a:noFill/>
                </a:ln>
                <a:solidFill>
                  <a:srgbClr val="222222"/>
                </a:solidFill>
                <a:effectLst/>
                <a:latin typeface="Inter-Regular"/>
              </a:rPr>
              <a:t> error if a column is not present. It takes the following inputs:</a:t>
            </a:r>
            <a:br>
              <a:rPr kumimoji="0" lang="en-US" sz="2000" b="0" i="0" u="none" strike="noStrike" cap="none" normalizeH="0" baseline="0" dirty="0" smtClean="0">
                <a:ln>
                  <a:noFill/>
                </a:ln>
                <a:solidFill>
                  <a:srgbClr val="222222"/>
                </a:solidFill>
                <a:effectLst/>
                <a:latin typeface="Inter-Regular"/>
              </a:rPr>
            </a:br>
            <a:r>
              <a:rPr kumimoji="0" lang="en-US" sz="2000" b="0" i="0" u="none" strike="noStrike" cap="none" normalizeH="0" baseline="0" dirty="0" smtClean="0">
                <a:ln>
                  <a:noFill/>
                </a:ln>
                <a:solidFill>
                  <a:srgbClr val="222222"/>
                </a:solidFill>
                <a:effectLst/>
                <a:latin typeface="Inter-Regular"/>
              </a:rPr>
              <a:t>‘</a:t>
            </a:r>
            <a:r>
              <a:rPr kumimoji="0" lang="en-US" sz="2000" b="1" i="0" u="none" strike="noStrike" cap="none" normalizeH="0" baseline="0" dirty="0" smtClean="0">
                <a:ln>
                  <a:noFill/>
                </a:ln>
                <a:solidFill>
                  <a:srgbClr val="222222"/>
                </a:solidFill>
                <a:effectLst/>
                <a:latin typeface="Inter-Regular"/>
              </a:rPr>
              <a:t>ignore</a:t>
            </a:r>
            <a:r>
              <a:rPr kumimoji="0" lang="en-US" sz="2000" b="0" i="0" u="none" strike="noStrike" cap="none" normalizeH="0" baseline="0" dirty="0" smtClean="0">
                <a:ln>
                  <a:noFill/>
                </a:ln>
                <a:solidFill>
                  <a:srgbClr val="222222"/>
                </a:solidFill>
                <a:effectLst/>
                <a:latin typeface="Inter-Regular"/>
              </a:rPr>
              <a:t>‘: It suppresses the error and drops only existing labels.</a:t>
            </a:r>
            <a:br>
              <a:rPr kumimoji="0" lang="en-US" sz="2000" b="0" i="0" u="none" strike="noStrike" cap="none" normalizeH="0" baseline="0" dirty="0" smtClean="0">
                <a:ln>
                  <a:noFill/>
                </a:ln>
                <a:solidFill>
                  <a:srgbClr val="222222"/>
                </a:solidFill>
                <a:effectLst/>
                <a:latin typeface="Inter-Regular"/>
              </a:rPr>
            </a:br>
            <a:r>
              <a:rPr kumimoji="0" lang="en-US" sz="2000" b="0" i="0" u="none" strike="noStrike" cap="none" normalizeH="0" baseline="0" dirty="0" smtClean="0">
                <a:ln>
                  <a:noFill/>
                </a:ln>
                <a:solidFill>
                  <a:srgbClr val="222222"/>
                </a:solidFill>
                <a:effectLst/>
                <a:latin typeface="Inter-Regular"/>
              </a:rPr>
              <a:t>‘</a:t>
            </a:r>
            <a:r>
              <a:rPr kumimoji="0" lang="en-US" sz="2000" b="1" i="0" u="none" strike="noStrike" cap="none" normalizeH="0" baseline="0" dirty="0" smtClean="0">
                <a:ln>
                  <a:noFill/>
                </a:ln>
                <a:solidFill>
                  <a:srgbClr val="222222"/>
                </a:solidFill>
                <a:effectLst/>
                <a:latin typeface="Inter-Regular"/>
              </a:rPr>
              <a:t>raise</a:t>
            </a:r>
            <a:r>
              <a:rPr kumimoji="0" lang="en-US" sz="2000" b="0" i="0" u="none" strike="noStrike" cap="none" normalizeH="0" baseline="0" dirty="0" smtClean="0">
                <a:ln>
                  <a:noFill/>
                </a:ln>
                <a:solidFill>
                  <a:srgbClr val="222222"/>
                </a:solidFill>
                <a:effectLst/>
                <a:latin typeface="Inter-Regular"/>
              </a:rPr>
              <a:t>‘: Throws the errors if the column does not exist. It is the default case.</a:t>
            </a:r>
            <a:endParaRPr kumimoji="0" lang="en-US" sz="2000" b="0" i="0" u="none" strike="noStrike" cap="none" normalizeH="0" baseline="0" dirty="0" smtClean="0">
              <a:ln>
                <a:noFill/>
              </a:ln>
              <a:solidFill>
                <a:schemeClr val="tx1"/>
              </a:solidFill>
              <a:effectLst/>
              <a:latin typeface="Arial" panose="020B0604020202020204" pitchFamily="34" charset="0"/>
            </a:endParaRPr>
          </a:p>
        </p:txBody>
      </p:sp>
      <p:sp>
        <p:nvSpPr>
          <p:cNvPr id="5" name="Rectangle 3"/>
          <p:cNvSpPr>
            <a:spLocks noChangeArrowheads="1"/>
          </p:cNvSpPr>
          <p:nvPr/>
        </p:nvSpPr>
        <p:spPr bwMode="auto">
          <a:xfrm>
            <a:off x="272956" y="5741224"/>
            <a:ext cx="8990256" cy="1012079"/>
          </a:xfrm>
          <a:prstGeom prst="rect">
            <a:avLst/>
          </a:prstGeom>
          <a:solidFill>
            <a:srgbClr val="F9F2F4"/>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357075" tIns="0" rIns="0" bIns="179331"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rtl="0" eaLnBrk="0" fontAlgn="base" latinLnBrk="0" hangingPunct="0">
              <a:lnSpc>
                <a:spcPct val="100000"/>
              </a:lnSpc>
              <a:spcBef>
                <a:spcPct val="0"/>
              </a:spcBef>
              <a:spcAft>
                <a:spcPct val="0"/>
              </a:spcAft>
              <a:buClrTx/>
              <a:buSzTx/>
              <a:buFontTx/>
              <a:buNone/>
              <a:tabLst/>
            </a:pPr>
            <a:r>
              <a:rPr kumimoji="0" lang="en-US" b="1" i="0" u="none" strike="noStrike" cap="none" normalizeH="0" baseline="0" dirty="0" smtClean="0">
                <a:ln>
                  <a:noFill/>
                </a:ln>
                <a:solidFill>
                  <a:srgbClr val="222222"/>
                </a:solidFill>
                <a:effectLst/>
                <a:latin typeface="Inter-Regular"/>
              </a:rPr>
              <a:t>Returns:</a:t>
            </a:r>
            <a:endParaRPr kumimoji="0" lang="en-US" b="0" i="0" u="none" strike="noStrike" cap="none" normalizeH="0" baseline="0" dirty="0" smtClean="0">
              <a:ln>
                <a:noFill/>
              </a:ln>
              <a:solidFill>
                <a:schemeClr val="tx1"/>
              </a:solidFill>
              <a:effectLst/>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b="0" i="0" u="none" strike="noStrike" cap="none" normalizeH="0" baseline="0" dirty="0" smtClean="0">
                <a:ln>
                  <a:noFill/>
                </a:ln>
                <a:solidFill>
                  <a:srgbClr val="222222"/>
                </a:solidFill>
                <a:effectLst/>
                <a:latin typeface="Inter-Regular"/>
              </a:rPr>
              <a:t>It returns the </a:t>
            </a:r>
            <a:r>
              <a:rPr kumimoji="0" lang="en-US" b="0" i="0" u="none" strike="noStrike" cap="none" normalizeH="0" baseline="0" dirty="0" err="1" smtClean="0">
                <a:ln>
                  <a:noFill/>
                </a:ln>
                <a:solidFill>
                  <a:srgbClr val="222222"/>
                </a:solidFill>
                <a:effectLst/>
                <a:latin typeface="Inter-Regular"/>
              </a:rPr>
              <a:t>DataFrame</a:t>
            </a:r>
            <a:r>
              <a:rPr kumimoji="0" lang="en-US" b="0" i="0" u="none" strike="noStrike" cap="none" normalizeH="0" baseline="0" dirty="0" smtClean="0">
                <a:ln>
                  <a:noFill/>
                </a:ln>
                <a:solidFill>
                  <a:srgbClr val="222222"/>
                </a:solidFill>
                <a:effectLst/>
                <a:latin typeface="Inter-Regular"/>
              </a:rPr>
              <a:t> with dropped columns or None if </a:t>
            </a:r>
            <a:r>
              <a:rPr kumimoji="0" lang="en-US" b="0" i="0" u="none" strike="noStrike" cap="none" normalizeH="0" baseline="0" dirty="0" err="1" smtClean="0">
                <a:ln>
                  <a:noFill/>
                </a:ln>
                <a:solidFill>
                  <a:srgbClr val="6C0B24"/>
                </a:solidFill>
                <a:effectLst/>
                <a:latin typeface="Consolas" panose="020B0609020204030204" pitchFamily="49" charset="0"/>
              </a:rPr>
              <a:t>inplace</a:t>
            </a:r>
            <a:r>
              <a:rPr kumimoji="0" lang="en-US" b="0" i="0" u="none" strike="noStrike" cap="none" normalizeH="0" baseline="0" dirty="0" smtClean="0">
                <a:ln>
                  <a:noFill/>
                </a:ln>
                <a:solidFill>
                  <a:srgbClr val="6C0B24"/>
                </a:solidFill>
                <a:effectLst/>
                <a:latin typeface="Consolas" panose="020B0609020204030204" pitchFamily="49" charset="0"/>
              </a:rPr>
              <a:t>=True</a:t>
            </a:r>
            <a:endParaRPr kumimoji="0" lang="en-US" b="0" i="0" u="none" strike="noStrike" cap="none" normalizeH="0" baseline="0" dirty="0" smtClean="0">
              <a:ln>
                <a:noFill/>
              </a:ln>
              <a:solidFill>
                <a:srgbClr val="222222"/>
              </a:solidFill>
              <a:effectLst/>
              <a:latin typeface="Inter-Regular"/>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b="0" i="0" u="none" strike="noStrike" cap="none" normalizeH="0" baseline="0" dirty="0" smtClean="0">
                <a:ln>
                  <a:noFill/>
                </a:ln>
                <a:solidFill>
                  <a:srgbClr val="222222"/>
                </a:solidFill>
                <a:effectLst/>
                <a:latin typeface="Inter-Regular"/>
              </a:rPr>
              <a:t>It also raises </a:t>
            </a:r>
            <a:r>
              <a:rPr kumimoji="0" lang="en-US" b="0" i="0" u="none" strike="noStrike" cap="none" normalizeH="0" baseline="0" dirty="0" err="1" smtClean="0">
                <a:ln>
                  <a:noFill/>
                </a:ln>
                <a:solidFill>
                  <a:srgbClr val="6C0B24"/>
                </a:solidFill>
                <a:effectLst/>
                <a:latin typeface="Consolas" panose="020B0609020204030204" pitchFamily="49" charset="0"/>
              </a:rPr>
              <a:t>KeyError</a:t>
            </a:r>
            <a:r>
              <a:rPr kumimoji="0" lang="en-US" b="0" i="0" u="none" strike="noStrike" cap="none" normalizeH="0" baseline="0" dirty="0" smtClean="0">
                <a:ln>
                  <a:noFill/>
                </a:ln>
                <a:solidFill>
                  <a:srgbClr val="222222"/>
                </a:solidFill>
                <a:effectLst/>
                <a:latin typeface="Inter-Regular"/>
              </a:rPr>
              <a:t> if labels are not found.</a:t>
            </a:r>
            <a:endParaRPr kumimoji="0" lang="en-US" b="0" i="0" u="none" strike="noStrike" cap="none" normalizeH="0" baseline="0" dirty="0" smtClean="0">
              <a:ln>
                <a:noFill/>
              </a:ln>
              <a:solidFill>
                <a:schemeClr val="tx1"/>
              </a:solidFill>
              <a:effectLst/>
            </a:endParaRPr>
          </a:p>
        </p:txBody>
      </p:sp>
    </p:spTree>
    <p:extLst>
      <p:ext uri="{BB962C8B-B14F-4D97-AF65-F5344CB8AC3E}">
        <p14:creationId xmlns:p14="http://schemas.microsoft.com/office/powerpoint/2010/main" xmlns="" val="82350431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218363" y="143851"/>
            <a:ext cx="11723427" cy="1743269"/>
          </a:xfrm>
          <a:prstGeom prst="rect">
            <a:avLst/>
          </a:prstGeom>
          <a:solidFill>
            <a:srgbClr val="F9F2F4"/>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0" tIns="268203" rIns="0" bIns="223767"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b="1" i="0" u="none" strike="noStrike" cap="none" normalizeH="0" baseline="0" dirty="0" smtClean="0">
                <a:ln>
                  <a:noFill/>
                </a:ln>
                <a:solidFill>
                  <a:srgbClr val="1C2B41"/>
                </a:solidFill>
                <a:effectLst/>
                <a:latin typeface="Inter-Bold"/>
              </a:rPr>
              <a:t>Drop single column</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b="0" i="0" u="none" strike="noStrike" cap="none" normalizeH="0" baseline="0" dirty="0" smtClean="0">
                <a:ln>
                  <a:noFill/>
                </a:ln>
                <a:solidFill>
                  <a:srgbClr val="222222"/>
                </a:solidFill>
                <a:effectLst/>
                <a:latin typeface="Inter-Regular"/>
              </a:rPr>
              <a:t>We may need to delete a single or specific column from a </a:t>
            </a:r>
            <a:r>
              <a:rPr kumimoji="0" lang="en-US" b="0" i="0" u="none" strike="noStrike" cap="none" normalizeH="0" baseline="0" dirty="0" err="1" smtClean="0">
                <a:ln>
                  <a:noFill/>
                </a:ln>
                <a:solidFill>
                  <a:srgbClr val="222222"/>
                </a:solidFill>
                <a:effectLst/>
                <a:latin typeface="Inter-Regular"/>
              </a:rPr>
              <a:t>DataFrame</a:t>
            </a:r>
            <a:r>
              <a:rPr kumimoji="0" lang="en-US" b="0" i="0" u="none" strike="noStrike" cap="none" normalizeH="0" baseline="0" dirty="0" smtClean="0">
                <a:ln>
                  <a:noFill/>
                </a:ln>
                <a:solidFill>
                  <a:srgbClr val="222222"/>
                </a:solidFill>
                <a:effectLst/>
                <a:latin typeface="Inter-Regular"/>
              </a:rPr>
              <a:t>.</a:t>
            </a:r>
            <a:endParaRPr kumimoji="0" lang="en-US"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US" b="0" i="0" u="none" strike="noStrike" cap="none" normalizeH="0" baseline="0" dirty="0" smtClean="0">
                <a:ln>
                  <a:noFill/>
                </a:ln>
                <a:solidFill>
                  <a:srgbClr val="222222"/>
                </a:solidFill>
                <a:effectLst/>
                <a:latin typeface="Inter-Regular"/>
              </a:rPr>
              <a:t>In the below example we drop the ‘</a:t>
            </a:r>
            <a:r>
              <a:rPr kumimoji="0" lang="en-US" b="1" i="0" u="none" strike="noStrike" cap="none" normalizeH="0" baseline="0" dirty="0" smtClean="0">
                <a:ln>
                  <a:noFill/>
                </a:ln>
                <a:solidFill>
                  <a:srgbClr val="222222"/>
                </a:solidFill>
                <a:effectLst/>
                <a:latin typeface="Inter-Regular"/>
              </a:rPr>
              <a:t>age</a:t>
            </a:r>
            <a:r>
              <a:rPr kumimoji="0" lang="en-US" b="0" i="0" u="none" strike="noStrike" cap="none" normalizeH="0" baseline="0" dirty="0" smtClean="0">
                <a:ln>
                  <a:noFill/>
                </a:ln>
                <a:solidFill>
                  <a:srgbClr val="222222"/>
                </a:solidFill>
                <a:effectLst/>
                <a:latin typeface="Inter-Regular"/>
              </a:rPr>
              <a:t>‘ column from the </a:t>
            </a:r>
            <a:r>
              <a:rPr kumimoji="0" lang="en-US" b="0" i="0" u="none" strike="noStrike" cap="none" normalizeH="0" baseline="0" dirty="0" err="1" smtClean="0">
                <a:ln>
                  <a:noFill/>
                </a:ln>
                <a:solidFill>
                  <a:srgbClr val="222222"/>
                </a:solidFill>
                <a:effectLst/>
                <a:latin typeface="Inter-Regular"/>
              </a:rPr>
              <a:t>DataFrame</a:t>
            </a:r>
            <a:r>
              <a:rPr kumimoji="0" lang="en-US" b="0" i="0" u="none" strike="noStrike" cap="none" normalizeH="0" baseline="0" dirty="0" smtClean="0">
                <a:ln>
                  <a:noFill/>
                </a:ln>
                <a:solidFill>
                  <a:srgbClr val="222222"/>
                </a:solidFill>
                <a:effectLst/>
                <a:latin typeface="Inter-Regular"/>
              </a:rPr>
              <a:t> using </a:t>
            </a:r>
            <a:r>
              <a:rPr kumimoji="0" lang="en-US" b="0" i="0" u="none" strike="noStrike" cap="none" normalizeH="0" baseline="0" dirty="0" err="1" smtClean="0">
                <a:ln>
                  <a:noFill/>
                </a:ln>
                <a:solidFill>
                  <a:srgbClr val="6C0B24"/>
                </a:solidFill>
                <a:effectLst/>
                <a:latin typeface="Consolas" panose="020B0609020204030204" pitchFamily="49" charset="0"/>
              </a:rPr>
              <a:t>df.drop</a:t>
            </a:r>
            <a:r>
              <a:rPr kumimoji="0" lang="en-US" b="0" i="0" u="none" strike="noStrike" cap="none" normalizeH="0" baseline="0" dirty="0" smtClean="0">
                <a:ln>
                  <a:noFill/>
                </a:ln>
                <a:solidFill>
                  <a:srgbClr val="6C0B24"/>
                </a:solidFill>
                <a:effectLst/>
                <a:latin typeface="Consolas" panose="020B0609020204030204" pitchFamily="49" charset="0"/>
              </a:rPr>
              <a:t>(columns = '</a:t>
            </a:r>
            <a:r>
              <a:rPr kumimoji="0" lang="en-US" b="0" i="0" u="none" strike="noStrike" cap="none" normalizeH="0" baseline="0" dirty="0" err="1" smtClean="0">
                <a:ln>
                  <a:noFill/>
                </a:ln>
                <a:solidFill>
                  <a:srgbClr val="6C0B24"/>
                </a:solidFill>
                <a:effectLst/>
                <a:latin typeface="Consolas" panose="020B0609020204030204" pitchFamily="49" charset="0"/>
              </a:rPr>
              <a:t>col_name</a:t>
            </a:r>
            <a:r>
              <a:rPr kumimoji="0" lang="en-US" b="0" i="0" u="none" strike="noStrike" cap="none" normalizeH="0" baseline="0" dirty="0" smtClean="0">
                <a:ln>
                  <a:noFill/>
                </a:ln>
                <a:solidFill>
                  <a:srgbClr val="6C0B24"/>
                </a:solidFill>
                <a:effectLst/>
                <a:latin typeface="Consolas" panose="020B0609020204030204" pitchFamily="49" charset="0"/>
              </a:rPr>
              <a:t>')</a:t>
            </a:r>
            <a:endParaRPr kumimoji="0" lang="en-US" b="0" i="0" u="none" strike="noStrike" cap="none" normalizeH="0" baseline="0" dirty="0" smtClean="0">
              <a:ln>
                <a:noFill/>
              </a:ln>
              <a:solidFill>
                <a:schemeClr val="tx1"/>
              </a:solidFill>
              <a:effectLst/>
            </a:endParaRPr>
          </a:p>
        </p:txBody>
      </p:sp>
      <p:pic>
        <p:nvPicPr>
          <p:cNvPr id="3" name="Picture 2"/>
          <p:cNvPicPr>
            <a:picLocks noChangeAspect="1"/>
          </p:cNvPicPr>
          <p:nvPr/>
        </p:nvPicPr>
        <p:blipFill rotWithShape="1">
          <a:blip r:embed="rId2" cstate="print"/>
          <a:srcRect l="40385" t="30737" r="42413" b="49300"/>
          <a:stretch/>
        </p:blipFill>
        <p:spPr>
          <a:xfrm>
            <a:off x="4640239" y="1828800"/>
            <a:ext cx="2238233" cy="1460311"/>
          </a:xfrm>
          <a:prstGeom prst="rect">
            <a:avLst/>
          </a:prstGeom>
        </p:spPr>
      </p:pic>
      <p:sp>
        <p:nvSpPr>
          <p:cNvPr id="4" name="Rectangle 2"/>
          <p:cNvSpPr>
            <a:spLocks noChangeArrowheads="1"/>
          </p:cNvSpPr>
          <p:nvPr/>
        </p:nvSpPr>
        <p:spPr bwMode="auto">
          <a:xfrm>
            <a:off x="150126" y="3369756"/>
            <a:ext cx="11902183" cy="1797166"/>
          </a:xfrm>
          <a:prstGeom prst="rect">
            <a:avLst/>
          </a:prstGeom>
          <a:solidFill>
            <a:srgbClr val="F9F2F4"/>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357075" tIns="0" rIns="0" bIns="179331"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b="1" i="0" u="none" strike="noStrike" cap="none" normalizeH="0" baseline="0" dirty="0" smtClean="0">
                <a:ln>
                  <a:noFill/>
                </a:ln>
                <a:solidFill>
                  <a:srgbClr val="1C2B41"/>
                </a:solidFill>
                <a:effectLst/>
                <a:latin typeface="Inter-Bold"/>
              </a:rPr>
              <a:t>Drop multiple columns</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b="0" i="0" u="none" strike="noStrike" cap="none" normalizeH="0" baseline="0" dirty="0" smtClean="0">
                <a:ln>
                  <a:noFill/>
                </a:ln>
                <a:solidFill>
                  <a:srgbClr val="222222"/>
                </a:solidFill>
                <a:effectLst/>
                <a:latin typeface="Inter-Regular"/>
              </a:rPr>
              <a:t>Use any of the following two parameters of </a:t>
            </a:r>
            <a:r>
              <a:rPr kumimoji="0" lang="en-US" b="0" i="0" u="none" strike="noStrike" cap="none" normalizeH="0" baseline="0" dirty="0" smtClean="0">
                <a:ln>
                  <a:noFill/>
                </a:ln>
                <a:solidFill>
                  <a:srgbClr val="6C0B24"/>
                </a:solidFill>
                <a:effectLst/>
                <a:latin typeface="Consolas" panose="020B0609020204030204" pitchFamily="49" charset="0"/>
              </a:rPr>
              <a:t>DataFrame.drop()</a:t>
            </a:r>
            <a:r>
              <a:rPr kumimoji="0" lang="en-US" b="0" i="0" u="none" strike="noStrike" cap="none" normalizeH="0" baseline="0" dirty="0" smtClean="0">
                <a:ln>
                  <a:noFill/>
                </a:ln>
                <a:solidFill>
                  <a:srgbClr val="222222"/>
                </a:solidFill>
                <a:effectLst/>
                <a:latin typeface="Inter-Regular"/>
              </a:rPr>
              <a:t> to delete multiple columns of </a:t>
            </a:r>
            <a:r>
              <a:rPr kumimoji="0" lang="en-US" b="0" i="0" u="none" strike="noStrike" cap="none" normalizeH="0" baseline="0" dirty="0" err="1" smtClean="0">
                <a:ln>
                  <a:noFill/>
                </a:ln>
                <a:solidFill>
                  <a:srgbClr val="222222"/>
                </a:solidFill>
                <a:effectLst/>
                <a:latin typeface="Inter-Regular"/>
              </a:rPr>
              <a:t>DataFrame</a:t>
            </a:r>
            <a:r>
              <a:rPr kumimoji="0" lang="en-US" b="0" i="0" u="none" strike="noStrike" cap="none" normalizeH="0" baseline="0" dirty="0" smtClean="0">
                <a:ln>
                  <a:noFill/>
                </a:ln>
                <a:solidFill>
                  <a:srgbClr val="222222"/>
                </a:solidFill>
                <a:effectLst/>
                <a:latin typeface="Inter-Regular"/>
              </a:rPr>
              <a:t> at once.</a:t>
            </a:r>
            <a:endParaRPr kumimoji="0" lang="en-US"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b="0" i="0" u="none" strike="noStrike" cap="none" normalizeH="0" baseline="0" dirty="0" smtClean="0">
                <a:ln>
                  <a:noFill/>
                </a:ln>
                <a:solidFill>
                  <a:srgbClr val="222222"/>
                </a:solidFill>
                <a:effectLst/>
                <a:latin typeface="Inter-Regular"/>
              </a:rPr>
              <a:t>Use the </a:t>
            </a:r>
            <a:r>
              <a:rPr kumimoji="0" lang="en-US" b="0" i="0" u="none" strike="noStrike" cap="none" normalizeH="0" baseline="0" dirty="0" smtClean="0">
                <a:ln>
                  <a:noFill/>
                </a:ln>
                <a:solidFill>
                  <a:srgbClr val="6C0B24"/>
                </a:solidFill>
                <a:effectLst/>
                <a:latin typeface="Consolas" panose="020B0609020204030204" pitchFamily="49" charset="0"/>
              </a:rPr>
              <a:t>column</a:t>
            </a:r>
            <a:r>
              <a:rPr kumimoji="0" lang="en-US" b="0" i="0" u="none" strike="noStrike" cap="none" normalizeH="0" baseline="0" dirty="0" smtClean="0">
                <a:ln>
                  <a:noFill/>
                </a:ln>
                <a:solidFill>
                  <a:srgbClr val="222222"/>
                </a:solidFill>
                <a:effectLst/>
                <a:latin typeface="Inter-Regular"/>
              </a:rPr>
              <a:t> parameter and pass the list of column names you want to remove.</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b="0" i="0" u="none" strike="noStrike" cap="none" normalizeH="0" baseline="0" dirty="0" smtClean="0">
                <a:ln>
                  <a:noFill/>
                </a:ln>
                <a:solidFill>
                  <a:srgbClr val="222222"/>
                </a:solidFill>
                <a:effectLst/>
                <a:latin typeface="Inter-Regular"/>
              </a:rPr>
              <a:t>Set the </a:t>
            </a:r>
            <a:r>
              <a:rPr kumimoji="0" lang="en-US" b="0" i="0" u="none" strike="noStrike" cap="none" normalizeH="0" baseline="0" dirty="0" smtClean="0">
                <a:ln>
                  <a:noFill/>
                </a:ln>
                <a:solidFill>
                  <a:srgbClr val="6C0B24"/>
                </a:solidFill>
                <a:effectLst/>
                <a:latin typeface="Consolas" panose="020B0609020204030204" pitchFamily="49" charset="0"/>
              </a:rPr>
              <a:t>axis=1</a:t>
            </a:r>
            <a:r>
              <a:rPr kumimoji="0" lang="en-US" b="0" i="0" u="none" strike="noStrike" cap="none" normalizeH="0" baseline="0" dirty="0" smtClean="0">
                <a:ln>
                  <a:noFill/>
                </a:ln>
                <a:solidFill>
                  <a:srgbClr val="222222"/>
                </a:solidFill>
                <a:effectLst/>
                <a:latin typeface="Inter-Regular"/>
              </a:rPr>
              <a:t> and pass the list of column names.</a:t>
            </a:r>
            <a:endParaRPr kumimoji="0" lang="en-US" b="0" i="0" u="none" strike="noStrike" cap="none" normalizeH="0" baseline="0" dirty="0" smtClean="0">
              <a:ln>
                <a:noFill/>
              </a:ln>
              <a:solidFill>
                <a:schemeClr val="tx1"/>
              </a:solidFill>
              <a:effectLst/>
            </a:endParaRPr>
          </a:p>
        </p:txBody>
      </p:sp>
    </p:spTree>
    <p:extLst>
      <p:ext uri="{BB962C8B-B14F-4D97-AF65-F5344CB8AC3E}">
        <p14:creationId xmlns:p14="http://schemas.microsoft.com/office/powerpoint/2010/main" xmlns="" val="22262476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218363" y="205656"/>
            <a:ext cx="11791667" cy="3266763"/>
          </a:xfrm>
          <a:prstGeom prst="rect">
            <a:avLst/>
          </a:prstGeom>
          <a:solidFill>
            <a:srgbClr val="F9F2F4"/>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0" tIns="268203" rIns="0" bIns="223767"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sz="2000" b="1" i="0" u="none" strike="noStrike" cap="none" normalizeH="0" baseline="0" dirty="0" smtClean="0">
                <a:ln>
                  <a:noFill/>
                </a:ln>
                <a:solidFill>
                  <a:srgbClr val="1C2B41"/>
                </a:solidFill>
                <a:effectLst/>
                <a:latin typeface="Inter-Bold"/>
              </a:rPr>
              <a:t>Using drop with </a:t>
            </a:r>
            <a:r>
              <a:rPr kumimoji="0" lang="en-US" sz="2000" b="1" i="0" u="none" strike="noStrike" cap="none" normalizeH="0" baseline="0" dirty="0" smtClean="0">
                <a:ln>
                  <a:noFill/>
                </a:ln>
                <a:solidFill>
                  <a:srgbClr val="1C2B41"/>
                </a:solidFill>
                <a:effectLst/>
                <a:latin typeface="Consolas" panose="020B0609020204030204" pitchFamily="49" charset="0"/>
              </a:rPr>
              <a:t>axis='columns'</a:t>
            </a:r>
            <a:r>
              <a:rPr kumimoji="0" lang="en-US" sz="2000" b="1" i="0" u="none" strike="noStrike" cap="none" normalizeH="0" baseline="0" dirty="0" smtClean="0">
                <a:ln>
                  <a:noFill/>
                </a:ln>
                <a:solidFill>
                  <a:srgbClr val="1C2B41"/>
                </a:solidFill>
                <a:effectLst/>
                <a:latin typeface="Inter-Bold"/>
              </a:rPr>
              <a:t> or </a:t>
            </a:r>
            <a:r>
              <a:rPr kumimoji="0" lang="en-US" sz="2000" b="1" i="0" u="none" strike="noStrike" cap="none" normalizeH="0" baseline="0" dirty="0" smtClean="0">
                <a:ln>
                  <a:noFill/>
                </a:ln>
                <a:solidFill>
                  <a:srgbClr val="1C2B41"/>
                </a:solidFill>
                <a:effectLst/>
                <a:latin typeface="Consolas" panose="020B0609020204030204" pitchFamily="49" charset="0"/>
              </a:rPr>
              <a:t>axis=1</a:t>
            </a:r>
            <a:endParaRPr kumimoji="0" lang="en-US" sz="2000" b="1" i="0" u="none" strike="noStrike" cap="none" normalizeH="0" baseline="0" dirty="0" smtClean="0">
              <a:ln>
                <a:noFill/>
              </a:ln>
              <a:solidFill>
                <a:srgbClr val="1C2B41"/>
              </a:solidFill>
              <a:effectLst/>
              <a:latin typeface="Inter-Bold"/>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US" sz="2000" b="0" i="0" u="none" strike="noStrike" cap="none" normalizeH="0" baseline="0" dirty="0" smtClean="0">
                <a:ln>
                  <a:noFill/>
                </a:ln>
                <a:solidFill>
                  <a:srgbClr val="222222"/>
                </a:solidFill>
                <a:effectLst/>
                <a:latin typeface="Inter-Regular"/>
              </a:rPr>
              <a:t>Let’s see how to drop using the axis-style convention. This is a new approach. ( This approach makes this method match the rest of the pandas API) .</a:t>
            </a:r>
            <a:endParaRPr kumimoji="0" lang="en-US" sz="20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US" sz="2000" b="0" i="0" u="none" strike="noStrike" cap="none" normalizeH="0" baseline="0" dirty="0" smtClean="0">
                <a:ln>
                  <a:noFill/>
                </a:ln>
                <a:solidFill>
                  <a:srgbClr val="222222"/>
                </a:solidFill>
                <a:effectLst/>
                <a:latin typeface="Inter-Regular"/>
              </a:rPr>
              <a:t>Use the axis parameter of a </a:t>
            </a:r>
            <a:r>
              <a:rPr kumimoji="0" lang="en-US" sz="2000" b="0" i="0" u="none" strike="noStrike" cap="none" normalizeH="0" baseline="0" dirty="0" smtClean="0">
                <a:ln>
                  <a:noFill/>
                </a:ln>
                <a:solidFill>
                  <a:srgbClr val="6C0B24"/>
                </a:solidFill>
                <a:effectLst/>
                <a:latin typeface="Consolas" panose="020B0609020204030204" pitchFamily="49" charset="0"/>
              </a:rPr>
              <a:t>DataFrame.drop()</a:t>
            </a:r>
            <a:r>
              <a:rPr kumimoji="0" lang="en-US" sz="2000" b="0" i="0" u="none" strike="noStrike" cap="none" normalizeH="0" baseline="0" dirty="0" smtClean="0">
                <a:ln>
                  <a:noFill/>
                </a:ln>
                <a:solidFill>
                  <a:srgbClr val="222222"/>
                </a:solidFill>
                <a:effectLst/>
                <a:latin typeface="Inter-Regular"/>
              </a:rPr>
              <a:t> to delete columns. The axis can be a row or column. The column axis represented as 1 or ‘columns’.</a:t>
            </a:r>
            <a:endParaRPr kumimoji="0" lang="en-US" sz="20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US" sz="2000" b="0" i="0" u="none" strike="noStrike" cap="none" normalizeH="0" baseline="0" dirty="0" smtClean="0">
                <a:ln>
                  <a:noFill/>
                </a:ln>
                <a:solidFill>
                  <a:srgbClr val="222222"/>
                </a:solidFill>
                <a:effectLst/>
                <a:latin typeface="Inter-Regular"/>
              </a:rPr>
              <a:t>Set </a:t>
            </a:r>
            <a:r>
              <a:rPr kumimoji="0" lang="en-US" sz="2000" b="0" i="0" u="none" strike="noStrike" cap="none" normalizeH="0" baseline="0" dirty="0" smtClean="0">
                <a:ln>
                  <a:noFill/>
                </a:ln>
                <a:solidFill>
                  <a:srgbClr val="6C0B24"/>
                </a:solidFill>
                <a:effectLst/>
                <a:latin typeface="Consolas" panose="020B0609020204030204" pitchFamily="49" charset="0"/>
              </a:rPr>
              <a:t>axis=1</a:t>
            </a:r>
            <a:r>
              <a:rPr kumimoji="0" lang="en-US" sz="2000" b="0" i="0" u="none" strike="noStrike" cap="none" normalizeH="0" baseline="0" dirty="0" smtClean="0">
                <a:ln>
                  <a:noFill/>
                </a:ln>
                <a:solidFill>
                  <a:srgbClr val="222222"/>
                </a:solidFill>
                <a:effectLst/>
                <a:latin typeface="Inter-Regular"/>
              </a:rPr>
              <a:t> or </a:t>
            </a:r>
            <a:r>
              <a:rPr kumimoji="0" lang="en-US" sz="2000" b="0" i="0" u="none" strike="noStrike" cap="none" normalizeH="0" baseline="0" dirty="0" smtClean="0">
                <a:ln>
                  <a:noFill/>
                </a:ln>
                <a:solidFill>
                  <a:srgbClr val="6C0B24"/>
                </a:solidFill>
                <a:effectLst/>
                <a:latin typeface="Consolas" panose="020B0609020204030204" pitchFamily="49" charset="0"/>
              </a:rPr>
              <a:t>axis='columns'</a:t>
            </a:r>
            <a:r>
              <a:rPr kumimoji="0" lang="en-US" sz="2000" b="0" i="0" u="none" strike="noStrike" cap="none" normalizeH="0" baseline="0" dirty="0" smtClean="0">
                <a:ln>
                  <a:noFill/>
                </a:ln>
                <a:solidFill>
                  <a:srgbClr val="222222"/>
                </a:solidFill>
                <a:effectLst/>
                <a:latin typeface="Inter-Regular"/>
              </a:rPr>
              <a:t> and pass the list of column names you want to remove.</a:t>
            </a:r>
            <a:endParaRPr kumimoji="0" lang="en-US" sz="2000" b="0" i="0" u="none" strike="noStrike" cap="none" normalizeH="0" baseline="0" dirty="0" smtClean="0">
              <a:ln>
                <a:noFill/>
              </a:ln>
              <a:solidFill>
                <a:schemeClr val="tx1"/>
              </a:solidFill>
              <a:effectLst/>
            </a:endParaRPr>
          </a:p>
        </p:txBody>
      </p:sp>
    </p:spTree>
    <p:extLst>
      <p:ext uri="{BB962C8B-B14F-4D97-AF65-F5344CB8AC3E}">
        <p14:creationId xmlns:p14="http://schemas.microsoft.com/office/powerpoint/2010/main" xmlns="" val="10737941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1917" y="105349"/>
            <a:ext cx="2531462" cy="369332"/>
          </a:xfrm>
          <a:prstGeom prst="rect">
            <a:avLst/>
          </a:prstGeom>
        </p:spPr>
        <p:txBody>
          <a:bodyPr wrap="none">
            <a:spAutoFit/>
          </a:bodyPr>
          <a:lstStyle/>
          <a:p>
            <a:r>
              <a:rPr lang="en-US" b="1" dirty="0">
                <a:solidFill>
                  <a:srgbClr val="1C2B41"/>
                </a:solidFill>
                <a:latin typeface="Inter-Bold"/>
              </a:rPr>
              <a:t>Drop column in place</a:t>
            </a:r>
            <a:endParaRPr lang="en-US" b="1" i="0" dirty="0">
              <a:solidFill>
                <a:srgbClr val="1C2B41"/>
              </a:solidFill>
              <a:effectLst/>
              <a:latin typeface="Inter-Bold"/>
            </a:endParaRPr>
          </a:p>
        </p:txBody>
      </p:sp>
      <p:sp>
        <p:nvSpPr>
          <p:cNvPr id="3" name="Rectangle 1"/>
          <p:cNvSpPr>
            <a:spLocks noChangeArrowheads="1"/>
          </p:cNvSpPr>
          <p:nvPr/>
        </p:nvSpPr>
        <p:spPr bwMode="auto">
          <a:xfrm>
            <a:off x="27296" y="562901"/>
            <a:ext cx="12078268" cy="1515037"/>
          </a:xfrm>
          <a:prstGeom prst="rect">
            <a:avLst/>
          </a:prstGeom>
          <a:solidFill>
            <a:srgbClr val="F9F2F4"/>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357075" tIns="0" rIns="0" bIns="179331"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sz="2000" b="0" i="0" u="none" strike="noStrike" cap="none" normalizeH="0" baseline="0" dirty="0" smtClean="0">
                <a:ln>
                  <a:noFill/>
                </a:ln>
                <a:solidFill>
                  <a:srgbClr val="222222"/>
                </a:solidFill>
                <a:effectLst/>
                <a:latin typeface="Inter-Regular"/>
              </a:rPr>
              <a:t>Parameter </a:t>
            </a:r>
            <a:r>
              <a:rPr kumimoji="0" lang="en-US" sz="2000" b="0" i="0" u="none" strike="noStrike" cap="none" normalizeH="0" baseline="0" dirty="0" err="1" smtClean="0">
                <a:ln>
                  <a:noFill/>
                </a:ln>
                <a:solidFill>
                  <a:srgbClr val="6C0B24"/>
                </a:solidFill>
                <a:effectLst/>
                <a:latin typeface="Consolas" panose="020B0609020204030204" pitchFamily="49" charset="0"/>
              </a:rPr>
              <a:t>inplace</a:t>
            </a:r>
            <a:r>
              <a:rPr kumimoji="0" lang="en-US" sz="2000" b="0" i="0" u="none" strike="noStrike" cap="none" normalizeH="0" baseline="0" dirty="0" smtClean="0">
                <a:ln>
                  <a:noFill/>
                </a:ln>
                <a:solidFill>
                  <a:srgbClr val="222222"/>
                </a:solidFill>
                <a:effectLst/>
                <a:latin typeface="Inter-Regular"/>
              </a:rPr>
              <a:t> is used to indicate if drop column from the existing </a:t>
            </a:r>
            <a:r>
              <a:rPr kumimoji="0" lang="en-US" sz="2000" b="0" i="0" u="none" strike="noStrike" cap="none" normalizeH="0" baseline="0" dirty="0" err="1" smtClean="0">
                <a:ln>
                  <a:noFill/>
                </a:ln>
                <a:solidFill>
                  <a:srgbClr val="222222"/>
                </a:solidFill>
                <a:effectLst/>
                <a:latin typeface="Inter-Regular"/>
              </a:rPr>
              <a:t>DataFrame</a:t>
            </a:r>
            <a:r>
              <a:rPr kumimoji="0" lang="en-US" sz="2000" b="0" i="0" u="none" strike="noStrike" cap="none" normalizeH="0" baseline="0" dirty="0" smtClean="0">
                <a:ln>
                  <a:noFill/>
                </a:ln>
                <a:solidFill>
                  <a:srgbClr val="222222"/>
                </a:solidFill>
                <a:effectLst/>
                <a:latin typeface="Inter-Regular"/>
              </a:rPr>
              <a:t> or create a copy of it.</a:t>
            </a:r>
            <a:endParaRPr kumimoji="0" lang="en-US" sz="20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sz="2000" b="0" i="0" u="none" strike="noStrike" cap="none" normalizeH="0" baseline="0" dirty="0" smtClean="0">
                <a:ln>
                  <a:noFill/>
                </a:ln>
                <a:solidFill>
                  <a:srgbClr val="222222"/>
                </a:solidFill>
                <a:effectLst/>
                <a:latin typeface="Inter-Regular"/>
              </a:rPr>
              <a:t>If the </a:t>
            </a:r>
            <a:r>
              <a:rPr kumimoji="0" lang="en-US" sz="2000" b="0" i="0" u="none" strike="noStrike" cap="none" normalizeH="0" baseline="0" dirty="0" err="1" smtClean="0">
                <a:ln>
                  <a:noFill/>
                </a:ln>
                <a:solidFill>
                  <a:srgbClr val="6C0B24"/>
                </a:solidFill>
                <a:effectLst/>
                <a:latin typeface="Consolas" panose="020B0609020204030204" pitchFamily="49" charset="0"/>
              </a:rPr>
              <a:t>inplace</a:t>
            </a:r>
            <a:r>
              <a:rPr kumimoji="0" lang="en-US" sz="2000" b="0" i="0" u="none" strike="noStrike" cap="none" normalizeH="0" baseline="0" dirty="0" smtClean="0">
                <a:ln>
                  <a:noFill/>
                </a:ln>
                <a:solidFill>
                  <a:srgbClr val="6C0B24"/>
                </a:solidFill>
                <a:effectLst/>
                <a:latin typeface="Consolas" panose="020B0609020204030204" pitchFamily="49" charset="0"/>
              </a:rPr>
              <a:t>=True</a:t>
            </a:r>
            <a:r>
              <a:rPr kumimoji="0" lang="en-US" sz="2000" b="0" i="0" u="none" strike="noStrike" cap="none" normalizeH="0" baseline="0" dirty="0" smtClean="0">
                <a:ln>
                  <a:noFill/>
                </a:ln>
                <a:solidFill>
                  <a:srgbClr val="222222"/>
                </a:solidFill>
                <a:effectLst/>
                <a:latin typeface="Inter-Regular"/>
              </a:rPr>
              <a:t> then it updates the existing </a:t>
            </a:r>
            <a:r>
              <a:rPr kumimoji="0" lang="en-US" sz="2000" b="0" i="0" u="none" strike="noStrike" cap="none" normalizeH="0" baseline="0" dirty="0" err="1" smtClean="0">
                <a:ln>
                  <a:noFill/>
                </a:ln>
                <a:solidFill>
                  <a:srgbClr val="222222"/>
                </a:solidFill>
                <a:effectLst/>
                <a:latin typeface="Inter-Regular"/>
              </a:rPr>
              <a:t>DataFrame</a:t>
            </a:r>
            <a:r>
              <a:rPr kumimoji="0" lang="en-US" sz="2000" b="0" i="0" u="none" strike="noStrike" cap="none" normalizeH="0" baseline="0" dirty="0" smtClean="0">
                <a:ln>
                  <a:noFill/>
                </a:ln>
                <a:solidFill>
                  <a:srgbClr val="222222"/>
                </a:solidFill>
                <a:effectLst/>
                <a:latin typeface="Inter-Regular"/>
              </a:rPr>
              <a:t> and does not return anything.</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sz="2000" b="0" i="0" u="none" strike="noStrike" cap="none" normalizeH="0" baseline="0" dirty="0" smtClean="0">
                <a:ln>
                  <a:noFill/>
                </a:ln>
                <a:solidFill>
                  <a:srgbClr val="222222"/>
                </a:solidFill>
                <a:effectLst/>
                <a:latin typeface="Inter-Regular"/>
              </a:rPr>
              <a:t>If the </a:t>
            </a:r>
            <a:r>
              <a:rPr kumimoji="0" lang="en-US" sz="2000" b="0" i="0" u="none" strike="noStrike" cap="none" normalizeH="0" baseline="0" dirty="0" err="1" smtClean="0">
                <a:ln>
                  <a:noFill/>
                </a:ln>
                <a:solidFill>
                  <a:srgbClr val="6C0B24"/>
                </a:solidFill>
                <a:effectLst/>
                <a:latin typeface="Consolas" panose="020B0609020204030204" pitchFamily="49" charset="0"/>
              </a:rPr>
              <a:t>inplace</a:t>
            </a:r>
            <a:r>
              <a:rPr kumimoji="0" lang="en-US" sz="2000" b="0" i="0" u="none" strike="noStrike" cap="none" normalizeH="0" baseline="0" dirty="0" smtClean="0">
                <a:ln>
                  <a:noFill/>
                </a:ln>
                <a:solidFill>
                  <a:srgbClr val="6C0B24"/>
                </a:solidFill>
                <a:effectLst/>
                <a:latin typeface="Consolas" panose="020B0609020204030204" pitchFamily="49" charset="0"/>
              </a:rPr>
              <a:t>=False</a:t>
            </a:r>
            <a:r>
              <a:rPr kumimoji="0" lang="en-US" sz="2000" b="0" i="0" u="none" strike="noStrike" cap="none" normalizeH="0" baseline="0" dirty="0" smtClean="0">
                <a:ln>
                  <a:noFill/>
                </a:ln>
                <a:solidFill>
                  <a:srgbClr val="222222"/>
                </a:solidFill>
                <a:effectLst/>
                <a:latin typeface="Inter-Regular"/>
              </a:rPr>
              <a:t> then it creates a new </a:t>
            </a:r>
            <a:r>
              <a:rPr kumimoji="0" lang="en-US" sz="2000" b="0" i="0" u="none" strike="noStrike" cap="none" normalizeH="0" baseline="0" dirty="0" err="1" smtClean="0">
                <a:ln>
                  <a:noFill/>
                </a:ln>
                <a:solidFill>
                  <a:srgbClr val="222222"/>
                </a:solidFill>
                <a:effectLst/>
                <a:latin typeface="Inter-Regular"/>
              </a:rPr>
              <a:t>DataFrame</a:t>
            </a:r>
            <a:r>
              <a:rPr kumimoji="0" lang="en-US" sz="2000" b="0" i="0" u="none" strike="noStrike" cap="none" normalizeH="0" baseline="0" dirty="0" smtClean="0">
                <a:ln>
                  <a:noFill/>
                </a:ln>
                <a:solidFill>
                  <a:srgbClr val="222222"/>
                </a:solidFill>
                <a:effectLst/>
                <a:latin typeface="Inter-Regular"/>
              </a:rPr>
              <a:t> with updated changes and returns it.</a:t>
            </a:r>
            <a:endParaRPr kumimoji="0" lang="en-US" sz="20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xmlns="" val="16989789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245660" y="161144"/>
            <a:ext cx="10262778" cy="3874401"/>
          </a:xfrm>
          <a:prstGeom prst="rect">
            <a:avLst/>
          </a:prstGeom>
          <a:solidFill>
            <a:srgbClr val="F9F2F4"/>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357075" tIns="0" rIns="0" bIns="179331"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sz="2000" b="1" i="0" u="none" strike="noStrike" cap="none" normalizeH="0" baseline="0" smtClean="0">
                <a:ln>
                  <a:noFill/>
                </a:ln>
                <a:solidFill>
                  <a:srgbClr val="1C2B41"/>
                </a:solidFill>
                <a:effectLst/>
                <a:latin typeface="Inter-Bold"/>
              </a:rPr>
              <a:t>Drop column by suppressing errors</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sz="2000" b="0" i="0" u="none" strike="noStrike" cap="none" normalizeH="0" baseline="0" smtClean="0">
                <a:ln>
                  <a:noFill/>
                </a:ln>
                <a:solidFill>
                  <a:srgbClr val="222222"/>
                </a:solidFill>
                <a:effectLst/>
                <a:latin typeface="Inter-Regular"/>
              </a:rPr>
              <a:t>By default, The </a:t>
            </a:r>
            <a:r>
              <a:rPr kumimoji="0" lang="en-US" sz="2000" b="0" i="0" u="none" strike="noStrike" cap="none" normalizeH="0" baseline="0" smtClean="0">
                <a:ln>
                  <a:noFill/>
                </a:ln>
                <a:solidFill>
                  <a:srgbClr val="6C0B24"/>
                </a:solidFill>
                <a:effectLst/>
                <a:latin typeface="Consolas" panose="020B0609020204030204" pitchFamily="49" charset="0"/>
              </a:rPr>
              <a:t>DataFrame.drop()</a:t>
            </a:r>
            <a:r>
              <a:rPr kumimoji="0" lang="en-US" sz="2000" b="0" i="0" u="none" strike="noStrike" cap="none" normalizeH="0" baseline="0" smtClean="0">
                <a:ln>
                  <a:noFill/>
                </a:ln>
                <a:solidFill>
                  <a:srgbClr val="222222"/>
                </a:solidFill>
                <a:effectLst/>
                <a:latin typeface="Inter-Regular"/>
              </a:rPr>
              <a:t>  throws </a:t>
            </a:r>
            <a:r>
              <a:rPr kumimoji="0" lang="en-US" sz="2000" b="0" i="0" u="none" strike="noStrike" cap="none" normalizeH="0" baseline="0" smtClean="0">
                <a:ln>
                  <a:noFill/>
                </a:ln>
                <a:solidFill>
                  <a:srgbClr val="6C0B24"/>
                </a:solidFill>
                <a:effectLst/>
                <a:latin typeface="Consolas" panose="020B0609020204030204" pitchFamily="49" charset="0"/>
              </a:rPr>
              <a:t>KeyError</a:t>
            </a:r>
            <a:r>
              <a:rPr kumimoji="0" lang="en-US" sz="2000" b="0" i="0" u="none" strike="noStrike" cap="none" normalizeH="0" baseline="0" smtClean="0">
                <a:ln>
                  <a:noFill/>
                </a:ln>
                <a:solidFill>
                  <a:srgbClr val="222222"/>
                </a:solidFill>
                <a:effectLst/>
                <a:latin typeface="Inter-Regular"/>
              </a:rPr>
              <a:t> if the column you are trying to delete does not exist in the dataset.</a:t>
            </a:r>
            <a:endParaRPr kumimoji="0" lang="en-US" sz="2000" b="0" i="0" u="none" strike="noStrike" cap="none" normalizeH="0" baseline="0" smtClean="0">
              <a:ln>
                <a:noFill/>
              </a:ln>
              <a:solidFill>
                <a:schemeClr val="tx1"/>
              </a:solidFill>
              <a:effectLst/>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US" sz="2000" b="0" i="0" u="none" strike="noStrike" cap="none" normalizeH="0" baseline="0" smtClean="0">
                <a:ln>
                  <a:noFill/>
                </a:ln>
                <a:solidFill>
                  <a:srgbClr val="222222"/>
                </a:solidFill>
                <a:effectLst/>
                <a:latin typeface="Inter-Regular"/>
              </a:rPr>
              <a:t>If we want to drop the column only if exists then we can suppress the error by using the parameter </a:t>
            </a:r>
            <a:r>
              <a:rPr kumimoji="0" lang="en-US" sz="2000" b="0" i="0" u="none" strike="noStrike" cap="none" normalizeH="0" baseline="0" smtClean="0">
                <a:ln>
                  <a:noFill/>
                </a:ln>
                <a:solidFill>
                  <a:srgbClr val="6C0B24"/>
                </a:solidFill>
                <a:effectLst/>
                <a:latin typeface="Consolas" panose="020B0609020204030204" pitchFamily="49" charset="0"/>
              </a:rPr>
              <a:t>errors</a:t>
            </a:r>
            <a:r>
              <a:rPr kumimoji="0" lang="en-US" sz="2000" b="0" i="0" u="none" strike="noStrike" cap="none" normalizeH="0" baseline="0" smtClean="0">
                <a:ln>
                  <a:noFill/>
                </a:ln>
                <a:solidFill>
                  <a:srgbClr val="222222"/>
                </a:solidFill>
                <a:effectLst/>
                <a:latin typeface="Inter-Regular"/>
              </a:rPr>
              <a:t>.</a:t>
            </a:r>
            <a:endParaRPr kumimoji="0" lang="en-US" sz="2000" b="0" i="0" u="none" strike="noStrike" cap="none" normalizeH="0" baseline="0" smtClean="0">
              <a:ln>
                <a:noFill/>
              </a:ln>
              <a:solidFill>
                <a:schemeClr val="tx1"/>
              </a:solidFill>
              <a:effectLst/>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sz="2000" b="0" i="0" u="none" strike="noStrike" cap="none" normalizeH="0" baseline="0" smtClean="0">
                <a:ln>
                  <a:noFill/>
                </a:ln>
                <a:solidFill>
                  <a:srgbClr val="222222"/>
                </a:solidFill>
                <a:effectLst/>
                <a:latin typeface="Inter-Regular"/>
              </a:rPr>
              <a:t>Set </a:t>
            </a:r>
            <a:r>
              <a:rPr kumimoji="0" lang="en-US" sz="2000" b="0" i="0" u="none" strike="noStrike" cap="none" normalizeH="0" baseline="0" smtClean="0">
                <a:ln>
                  <a:noFill/>
                </a:ln>
                <a:solidFill>
                  <a:srgbClr val="6C0B24"/>
                </a:solidFill>
                <a:effectLst/>
                <a:latin typeface="Consolas" panose="020B0609020204030204" pitchFamily="49" charset="0"/>
              </a:rPr>
              <a:t>errors='ignore'</a:t>
            </a:r>
            <a:r>
              <a:rPr kumimoji="0" lang="en-US" sz="2000" b="0" i="0" u="none" strike="noStrike" cap="none" normalizeH="0" baseline="0" smtClean="0">
                <a:ln>
                  <a:noFill/>
                </a:ln>
                <a:solidFill>
                  <a:srgbClr val="222222"/>
                </a:solidFill>
                <a:effectLst/>
                <a:latin typeface="Inter-Regular"/>
              </a:rPr>
              <a:t> to not throw any errors.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sz="2000" b="0" i="0" u="none" strike="noStrike" cap="none" normalizeH="0" baseline="0" smtClean="0">
                <a:ln>
                  <a:noFill/>
                </a:ln>
                <a:solidFill>
                  <a:srgbClr val="222222"/>
                </a:solidFill>
                <a:effectLst/>
                <a:latin typeface="Inter-Regular"/>
              </a:rPr>
              <a:t>Set </a:t>
            </a:r>
            <a:r>
              <a:rPr kumimoji="0" lang="en-US" sz="2000" b="0" i="0" u="none" strike="noStrike" cap="none" normalizeH="0" baseline="0" smtClean="0">
                <a:ln>
                  <a:noFill/>
                </a:ln>
                <a:solidFill>
                  <a:srgbClr val="6C0B24"/>
                </a:solidFill>
                <a:effectLst/>
                <a:latin typeface="Consolas" panose="020B0609020204030204" pitchFamily="49" charset="0"/>
              </a:rPr>
              <a:t>errors='raised'</a:t>
            </a:r>
            <a:r>
              <a:rPr kumimoji="0" lang="en-US" sz="2000" b="0" i="0" u="none" strike="noStrike" cap="none" normalizeH="0" baseline="0" smtClean="0">
                <a:ln>
                  <a:noFill/>
                </a:ln>
                <a:solidFill>
                  <a:srgbClr val="222222"/>
                </a:solidFill>
                <a:effectLst/>
                <a:latin typeface="Inter-Regular"/>
              </a:rPr>
              <a:t> to throw </a:t>
            </a:r>
            <a:r>
              <a:rPr kumimoji="0" lang="en-US" sz="2000" b="0" i="0" u="none" strike="noStrike" cap="none" normalizeH="0" baseline="0" smtClean="0">
                <a:ln>
                  <a:noFill/>
                </a:ln>
                <a:solidFill>
                  <a:srgbClr val="6C0B24"/>
                </a:solidFill>
                <a:effectLst/>
                <a:latin typeface="Consolas" panose="020B0609020204030204" pitchFamily="49" charset="0"/>
              </a:rPr>
              <a:t>KeyError</a:t>
            </a:r>
            <a:r>
              <a:rPr kumimoji="0" lang="en-US" sz="2000" b="0" i="0" u="none" strike="noStrike" cap="none" normalizeH="0" baseline="0" smtClean="0">
                <a:ln>
                  <a:noFill/>
                </a:ln>
                <a:solidFill>
                  <a:srgbClr val="222222"/>
                </a:solidFill>
                <a:effectLst/>
                <a:latin typeface="Inter-Regular"/>
              </a:rPr>
              <a:t> for the unknown columns</a:t>
            </a:r>
          </a:p>
          <a:p>
            <a:pPr marL="0" marR="0" lvl="0" indent="0" algn="l" defTabSz="914400" rtl="0" eaLnBrk="0" fontAlgn="base" latinLnBrk="0" hangingPunct="0">
              <a:lnSpc>
                <a:spcPct val="150000"/>
              </a:lnSpc>
              <a:spcBef>
                <a:spcPct val="0"/>
              </a:spcBef>
              <a:spcAft>
                <a:spcPct val="0"/>
              </a:spcAft>
              <a:buClrTx/>
              <a:buSzTx/>
              <a:buFontTx/>
              <a:buNone/>
              <a:tabLst/>
            </a:pPr>
            <a:endParaRPr kumimoji="0" lang="en-US" sz="2000" b="0" i="0" u="none" strike="noStrike" cap="none" normalizeH="0" baseline="0" smtClean="0">
              <a:ln>
                <a:noFill/>
              </a:ln>
              <a:solidFill>
                <a:schemeClr val="tx1"/>
              </a:solidFill>
              <a:effectLst/>
            </a:endParaRPr>
          </a:p>
        </p:txBody>
      </p:sp>
    </p:spTree>
    <p:extLst>
      <p:ext uri="{BB962C8B-B14F-4D97-AF65-F5344CB8AC3E}">
        <p14:creationId xmlns:p14="http://schemas.microsoft.com/office/powerpoint/2010/main" xmlns="" val="241698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177421" y="90160"/>
            <a:ext cx="11873552" cy="5298089"/>
          </a:xfrm>
          <a:prstGeom prst="rect">
            <a:avLst/>
          </a:prstGeom>
          <a:solidFill>
            <a:srgbClr val="F9F2F4"/>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0" tIns="268203" rIns="0" bIns="223767"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50000"/>
              </a:lnSpc>
              <a:spcBef>
                <a:spcPct val="0"/>
              </a:spcBef>
              <a:spcAft>
                <a:spcPct val="0"/>
              </a:spcAft>
              <a:buClrTx/>
              <a:buSzTx/>
              <a:buFontTx/>
              <a:buNone/>
              <a:tabLst/>
            </a:pPr>
            <a:r>
              <a:rPr kumimoji="0" lang="en-US" sz="2400" b="1" i="0" u="none" strike="noStrike" cap="none" normalizeH="0" baseline="0" dirty="0" smtClean="0">
                <a:ln>
                  <a:noFill/>
                </a:ln>
                <a:solidFill>
                  <a:srgbClr val="1C2B41"/>
                </a:solidFill>
                <a:effectLst/>
                <a:latin typeface="Inter-Bold"/>
              </a:rPr>
              <a:t>Drop column by index position</a:t>
            </a: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sz="2000" b="0" i="0" u="none" strike="noStrike" cap="none" normalizeH="0" baseline="0" dirty="0" smtClean="0">
                <a:ln>
                  <a:noFill/>
                </a:ln>
                <a:solidFill>
                  <a:srgbClr val="222222"/>
                </a:solidFill>
                <a:effectLst/>
                <a:latin typeface="Inter-Regular"/>
              </a:rPr>
              <a:t>If there is a case where we want to drop columns in the </a:t>
            </a:r>
            <a:r>
              <a:rPr kumimoji="0" lang="en-US" sz="2000" b="0" i="0" u="none" strike="noStrike" cap="none" normalizeH="0" baseline="0" dirty="0" err="1" smtClean="0">
                <a:ln>
                  <a:noFill/>
                </a:ln>
                <a:solidFill>
                  <a:srgbClr val="222222"/>
                </a:solidFill>
                <a:effectLst/>
                <a:latin typeface="Inter-Regular"/>
              </a:rPr>
              <a:t>DataFrame</a:t>
            </a:r>
            <a:r>
              <a:rPr kumimoji="0" lang="en-US" sz="2000" b="0" i="0" u="none" strike="noStrike" cap="none" normalizeH="0" baseline="0" dirty="0" smtClean="0">
                <a:ln>
                  <a:noFill/>
                </a:ln>
                <a:solidFill>
                  <a:srgbClr val="222222"/>
                </a:solidFill>
                <a:effectLst/>
                <a:latin typeface="Inter-Regular"/>
              </a:rPr>
              <a:t>, but we do not know the name of the columns still we can delete the column using its index position.</a:t>
            </a:r>
            <a:endParaRPr kumimoji="0" lang="en-US" sz="2000" b="0" i="0" u="none" strike="noStrike" cap="none" normalizeH="0" baseline="0" dirty="0" smtClean="0">
              <a:ln>
                <a:noFill/>
              </a:ln>
              <a:solidFill>
                <a:schemeClr val="tx1"/>
              </a:solidFill>
              <a:effectLst/>
            </a:endParaRP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sz="2000" b="1" i="0" u="none" strike="noStrike" cap="none" normalizeH="0" baseline="0" dirty="0" smtClean="0">
                <a:ln>
                  <a:noFill/>
                </a:ln>
                <a:solidFill>
                  <a:srgbClr val="222222"/>
                </a:solidFill>
                <a:effectLst/>
                <a:latin typeface="Inter-Regular"/>
              </a:rPr>
              <a:t>Note</a:t>
            </a:r>
            <a:r>
              <a:rPr kumimoji="0" lang="en-US" sz="2000" b="0" i="0" u="none" strike="noStrike" cap="none" normalizeH="0" baseline="0" dirty="0" smtClean="0">
                <a:ln>
                  <a:noFill/>
                </a:ln>
                <a:solidFill>
                  <a:srgbClr val="222222"/>
                </a:solidFill>
                <a:effectLst/>
                <a:latin typeface="Inter-Regular"/>
              </a:rPr>
              <a:t>: Column index starts from 0 (zero) and it goes till the last column whose index value will be </a:t>
            </a:r>
            <a:r>
              <a:rPr kumimoji="0" lang="en-US" sz="2000" b="0" i="0" u="none" strike="noStrike" cap="none" normalizeH="0" baseline="0" dirty="0" err="1" smtClean="0">
                <a:ln>
                  <a:noFill/>
                </a:ln>
                <a:solidFill>
                  <a:srgbClr val="6C0B24"/>
                </a:solidFill>
                <a:effectLst/>
                <a:latin typeface="Consolas" panose="020B0609020204030204" pitchFamily="49" charset="0"/>
              </a:rPr>
              <a:t>len</a:t>
            </a:r>
            <a:r>
              <a:rPr kumimoji="0" lang="en-US" sz="2000" b="0" i="0" u="none" strike="noStrike" cap="none" normalizeH="0" baseline="0" dirty="0" smtClean="0">
                <a:ln>
                  <a:noFill/>
                </a:ln>
                <a:solidFill>
                  <a:srgbClr val="6C0B24"/>
                </a:solidFill>
                <a:effectLst/>
                <a:latin typeface="Consolas" panose="020B0609020204030204" pitchFamily="49" charset="0"/>
              </a:rPr>
              <a:t>(</a:t>
            </a:r>
            <a:r>
              <a:rPr kumimoji="0" lang="en-US" sz="2000" b="0" i="0" u="none" strike="noStrike" cap="none" normalizeH="0" baseline="0" dirty="0" err="1" smtClean="0">
                <a:ln>
                  <a:noFill/>
                </a:ln>
                <a:solidFill>
                  <a:srgbClr val="6C0B24"/>
                </a:solidFill>
                <a:effectLst/>
                <a:latin typeface="Consolas" panose="020B0609020204030204" pitchFamily="49" charset="0"/>
              </a:rPr>
              <a:t>df.columns</a:t>
            </a:r>
            <a:r>
              <a:rPr kumimoji="0" lang="en-US" sz="2000" b="0" i="0" u="none" strike="noStrike" cap="none" normalizeH="0" baseline="0" dirty="0" smtClean="0">
                <a:ln>
                  <a:noFill/>
                </a:ln>
                <a:solidFill>
                  <a:srgbClr val="6C0B24"/>
                </a:solidFill>
                <a:effectLst/>
                <a:latin typeface="Consolas" panose="020B0609020204030204" pitchFamily="49" charset="0"/>
              </a:rPr>
              <a:t>)-1</a:t>
            </a:r>
            <a:r>
              <a:rPr kumimoji="0" lang="en-US" sz="2000" b="0" i="0" u="none" strike="noStrike" cap="none" normalizeH="0" baseline="0" dirty="0" smtClean="0">
                <a:ln>
                  <a:noFill/>
                </a:ln>
                <a:solidFill>
                  <a:srgbClr val="222222"/>
                </a:solidFill>
                <a:effectLst/>
                <a:latin typeface="Inter-Regular"/>
              </a:rPr>
              <a:t> .</a:t>
            </a:r>
            <a:endParaRPr kumimoji="0" lang="en-US" sz="2000" b="1" i="0" u="none" strike="noStrike" cap="none" normalizeH="0" baseline="0" dirty="0" smtClean="0">
              <a:ln>
                <a:noFill/>
              </a:ln>
              <a:solidFill>
                <a:srgbClr val="1C2B41"/>
              </a:solidFill>
              <a:effectLst/>
              <a:latin typeface="Inter-Bold"/>
            </a:endParaRP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sz="2400" b="1" i="0" u="none" strike="noStrike" cap="none" normalizeH="0" baseline="0" dirty="0" smtClean="0">
                <a:ln>
                  <a:noFill/>
                </a:ln>
                <a:solidFill>
                  <a:srgbClr val="1C2B41"/>
                </a:solidFill>
                <a:effectLst/>
                <a:latin typeface="Inter-Bold"/>
              </a:rPr>
              <a:t>Drop the last column</a:t>
            </a: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sz="2000" b="0" i="0" u="none" strike="noStrike" cap="none" normalizeH="0" baseline="0" dirty="0" smtClean="0">
                <a:ln>
                  <a:noFill/>
                </a:ln>
                <a:solidFill>
                  <a:srgbClr val="222222"/>
                </a:solidFill>
                <a:effectLst/>
                <a:latin typeface="Inter-Regular"/>
              </a:rPr>
              <a:t>Assume you want to drop the first column or the last column of the </a:t>
            </a:r>
            <a:r>
              <a:rPr kumimoji="0" lang="en-US" sz="2000" b="0" i="0" u="none" strike="noStrike" cap="none" normalizeH="0" baseline="0" dirty="0" err="1" smtClean="0">
                <a:ln>
                  <a:noFill/>
                </a:ln>
                <a:solidFill>
                  <a:srgbClr val="222222"/>
                </a:solidFill>
                <a:effectLst/>
                <a:latin typeface="Inter-Regular"/>
              </a:rPr>
              <a:t>DataFrame</a:t>
            </a:r>
            <a:r>
              <a:rPr kumimoji="0" lang="en-US" sz="2000" b="0" i="0" u="none" strike="noStrike" cap="none" normalizeH="0" baseline="0" dirty="0" smtClean="0">
                <a:ln>
                  <a:noFill/>
                </a:ln>
                <a:solidFill>
                  <a:srgbClr val="222222"/>
                </a:solidFill>
                <a:effectLst/>
                <a:latin typeface="Inter-Regular"/>
              </a:rPr>
              <a:t> without using the column name.</a:t>
            </a:r>
            <a:endParaRPr kumimoji="0" lang="en-US" sz="2000" b="0" i="0" u="none" strike="noStrike" cap="none" normalizeH="0" baseline="0" dirty="0" smtClean="0">
              <a:ln>
                <a:noFill/>
              </a:ln>
              <a:solidFill>
                <a:schemeClr val="tx1"/>
              </a:solidFill>
              <a:effectLst/>
            </a:endParaRP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sz="2000" b="0" i="0" u="none" strike="noStrike" cap="none" normalizeH="0" baseline="0" dirty="0" smtClean="0">
                <a:ln>
                  <a:noFill/>
                </a:ln>
                <a:solidFill>
                  <a:srgbClr val="222222"/>
                </a:solidFill>
                <a:effectLst/>
                <a:latin typeface="Inter-Regular"/>
              </a:rPr>
              <a:t>In such cases, use the </a:t>
            </a:r>
            <a:r>
              <a:rPr kumimoji="0" lang="en-US" sz="2000" b="0" i="0" u="none" strike="noStrike" cap="none" normalizeH="0" baseline="0" dirty="0" err="1" smtClean="0">
                <a:ln>
                  <a:noFill/>
                </a:ln>
                <a:solidFill>
                  <a:srgbClr val="222222"/>
                </a:solidFill>
                <a:effectLst/>
                <a:latin typeface="Inter-Regular"/>
              </a:rPr>
              <a:t>DataFrame.columns</a:t>
            </a:r>
            <a:r>
              <a:rPr kumimoji="0" lang="en-US" sz="2000" b="0" i="0" u="none" strike="noStrike" cap="none" normalizeH="0" baseline="0" dirty="0" smtClean="0">
                <a:ln>
                  <a:noFill/>
                </a:ln>
                <a:solidFill>
                  <a:srgbClr val="222222"/>
                </a:solidFill>
                <a:effectLst/>
                <a:latin typeface="Inter-Regular"/>
              </a:rPr>
              <a:t> attribute to delete a column of the </a:t>
            </a:r>
            <a:r>
              <a:rPr kumimoji="0" lang="en-US" sz="2000" b="0" i="0" u="none" strike="noStrike" cap="none" normalizeH="0" baseline="0" dirty="0" err="1" smtClean="0">
                <a:ln>
                  <a:noFill/>
                </a:ln>
                <a:solidFill>
                  <a:srgbClr val="222222"/>
                </a:solidFill>
                <a:effectLst/>
                <a:latin typeface="Inter-Regular"/>
              </a:rPr>
              <a:t>DataFrame</a:t>
            </a:r>
            <a:r>
              <a:rPr kumimoji="0" lang="en-US" sz="2000" b="0" i="0" u="none" strike="noStrike" cap="none" normalizeH="0" baseline="0" dirty="0" smtClean="0">
                <a:ln>
                  <a:noFill/>
                </a:ln>
                <a:solidFill>
                  <a:srgbClr val="222222"/>
                </a:solidFill>
                <a:effectLst/>
                <a:latin typeface="Inter-Regular"/>
              </a:rPr>
              <a:t> based on its index position. Simply pass </a:t>
            </a:r>
            <a:r>
              <a:rPr kumimoji="0" lang="en-US" sz="2000" b="0" i="0" u="none" strike="noStrike" cap="none" normalizeH="0" baseline="0" dirty="0" err="1" smtClean="0">
                <a:ln>
                  <a:noFill/>
                </a:ln>
                <a:solidFill>
                  <a:srgbClr val="6C0B24"/>
                </a:solidFill>
                <a:effectLst/>
                <a:latin typeface="Consolas" panose="020B0609020204030204" pitchFamily="49" charset="0"/>
              </a:rPr>
              <a:t>df.columns</a:t>
            </a:r>
            <a:r>
              <a:rPr kumimoji="0" lang="en-US" sz="2000" b="0" i="0" u="none" strike="noStrike" cap="none" normalizeH="0" baseline="0" dirty="0" smtClean="0">
                <a:ln>
                  <a:noFill/>
                </a:ln>
                <a:solidFill>
                  <a:srgbClr val="6C0B24"/>
                </a:solidFill>
                <a:effectLst/>
                <a:latin typeface="Consolas" panose="020B0609020204030204" pitchFamily="49" charset="0"/>
              </a:rPr>
              <a:t>[index]</a:t>
            </a:r>
            <a:r>
              <a:rPr kumimoji="0" lang="en-US" sz="2000" b="0" i="0" u="none" strike="noStrike" cap="none" normalizeH="0" baseline="0" dirty="0" smtClean="0">
                <a:ln>
                  <a:noFill/>
                </a:ln>
                <a:solidFill>
                  <a:srgbClr val="222222"/>
                </a:solidFill>
                <a:effectLst/>
                <a:latin typeface="Inter-Regular"/>
              </a:rPr>
              <a:t> to the columns parameter of the </a:t>
            </a:r>
            <a:r>
              <a:rPr kumimoji="0" lang="en-US" sz="2000" b="0" i="0" u="none" strike="noStrike" cap="none" normalizeH="0" baseline="0" dirty="0" err="1" smtClean="0">
                <a:ln>
                  <a:noFill/>
                </a:ln>
                <a:solidFill>
                  <a:srgbClr val="6C0B24"/>
                </a:solidFill>
                <a:effectLst/>
                <a:latin typeface="Consolas" panose="020B0609020204030204" pitchFamily="49" charset="0"/>
              </a:rPr>
              <a:t>DataFrame.drop</a:t>
            </a:r>
            <a:r>
              <a:rPr kumimoji="0" lang="en-US" sz="2000" b="0" i="0" u="none" strike="noStrike" cap="none" normalizeH="0" baseline="0" dirty="0" smtClean="0">
                <a:ln>
                  <a:noFill/>
                </a:ln>
                <a:solidFill>
                  <a:srgbClr val="6C0B24"/>
                </a:solidFill>
                <a:effectLst/>
                <a:latin typeface="Consolas" panose="020B0609020204030204" pitchFamily="49" charset="0"/>
              </a:rPr>
              <a:t>()</a:t>
            </a:r>
            <a:r>
              <a:rPr kumimoji="0" lang="en-US" sz="2000" b="0" i="0" u="none" strike="noStrike" cap="none" normalizeH="0" baseline="0" dirty="0" smtClean="0">
                <a:ln>
                  <a:noFill/>
                </a:ln>
                <a:solidFill>
                  <a:srgbClr val="222222"/>
                </a:solidFill>
                <a:effectLst/>
                <a:latin typeface="Inter-Regular"/>
              </a:rPr>
              <a:t>.</a:t>
            </a:r>
            <a:endParaRPr kumimoji="0" lang="en-US" sz="2000" b="0" i="0" u="none" strike="noStrike" cap="none" normalizeH="0" baseline="0" dirty="0" smtClean="0">
              <a:ln>
                <a:noFill/>
              </a:ln>
              <a:solidFill>
                <a:schemeClr val="tx1"/>
              </a:solidFill>
              <a:effectLst/>
            </a:endParaRPr>
          </a:p>
        </p:txBody>
      </p:sp>
    </p:spTree>
    <p:extLst>
      <p:ext uri="{BB962C8B-B14F-4D97-AF65-F5344CB8AC3E}">
        <p14:creationId xmlns:p14="http://schemas.microsoft.com/office/powerpoint/2010/main" xmlns="" val="93366060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122830" y="192007"/>
            <a:ext cx="11846256" cy="3266763"/>
          </a:xfrm>
          <a:prstGeom prst="rect">
            <a:avLst/>
          </a:prstGeom>
          <a:solidFill>
            <a:srgbClr val="F9F2F4"/>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0" tIns="268203" rIns="0" bIns="223767"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50000"/>
              </a:lnSpc>
              <a:spcBef>
                <a:spcPct val="0"/>
              </a:spcBef>
              <a:spcAft>
                <a:spcPct val="0"/>
              </a:spcAft>
              <a:buClrTx/>
              <a:buSzTx/>
              <a:buFontTx/>
              <a:buNone/>
              <a:tabLst/>
            </a:pPr>
            <a:r>
              <a:rPr kumimoji="0" lang="en-US" sz="2000" b="1" i="0" u="none" strike="noStrike" cap="none" normalizeH="0" baseline="0" dirty="0" smtClean="0">
                <a:ln>
                  <a:noFill/>
                </a:ln>
                <a:solidFill>
                  <a:srgbClr val="1C2B41"/>
                </a:solidFill>
                <a:effectLst/>
                <a:latin typeface="Inter-Bold"/>
              </a:rPr>
              <a:t>Drop range of columns using </a:t>
            </a:r>
            <a:r>
              <a:rPr kumimoji="0" lang="en-US" sz="2000" b="1" i="0" u="none" strike="noStrike" cap="none" normalizeH="0" baseline="0" dirty="0" err="1" smtClean="0">
                <a:ln>
                  <a:noFill/>
                </a:ln>
                <a:solidFill>
                  <a:srgbClr val="1C2B41"/>
                </a:solidFill>
                <a:effectLst/>
                <a:latin typeface="Consolas" panose="020B0609020204030204" pitchFamily="49" charset="0"/>
              </a:rPr>
              <a:t>iloc</a:t>
            </a:r>
            <a:endParaRPr kumimoji="0" lang="en-US" sz="2000" b="1" i="0" u="none" strike="noStrike" cap="none" normalizeH="0" baseline="0" dirty="0" smtClean="0">
              <a:ln>
                <a:noFill/>
              </a:ln>
              <a:solidFill>
                <a:srgbClr val="1C2B41"/>
              </a:solidFill>
              <a:effectLst/>
              <a:latin typeface="Inter-Bold"/>
            </a:endParaRP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sz="2000" b="0" i="0" u="none" strike="noStrike" cap="none" normalizeH="0" baseline="0" dirty="0" smtClean="0">
                <a:ln>
                  <a:noFill/>
                </a:ln>
                <a:solidFill>
                  <a:srgbClr val="222222"/>
                </a:solidFill>
                <a:effectLst/>
                <a:latin typeface="Inter-Regular"/>
              </a:rPr>
              <a:t>There could be a case when we need to delete the fourth column from the dataset or need to delete a range of columns. We can use </a:t>
            </a:r>
            <a:r>
              <a:rPr kumimoji="0" lang="en-US" sz="2000" b="0" i="0" u="none" strike="noStrike" cap="none" normalizeH="0" baseline="0" dirty="0" err="1" smtClean="0">
                <a:ln>
                  <a:noFill/>
                </a:ln>
                <a:solidFill>
                  <a:srgbClr val="6C0B24"/>
                </a:solidFill>
                <a:effectLst/>
                <a:latin typeface="Consolas" panose="020B0609020204030204" pitchFamily="49" charset="0"/>
              </a:rPr>
              <a:t>DataFrame.iloc</a:t>
            </a:r>
            <a:r>
              <a:rPr kumimoji="0" lang="en-US" sz="2000" b="0" i="0" u="none" strike="noStrike" cap="none" normalizeH="0" baseline="0" dirty="0" smtClean="0">
                <a:ln>
                  <a:noFill/>
                </a:ln>
                <a:solidFill>
                  <a:srgbClr val="222222"/>
                </a:solidFill>
                <a:effectLst/>
                <a:latin typeface="Inter-Regular"/>
              </a:rPr>
              <a:t> to select single or multiple columns from the </a:t>
            </a:r>
            <a:r>
              <a:rPr kumimoji="0" lang="en-US" sz="2000" b="0" i="0" u="none" strike="noStrike" cap="none" normalizeH="0" baseline="0" dirty="0" err="1" smtClean="0">
                <a:ln>
                  <a:noFill/>
                </a:ln>
                <a:solidFill>
                  <a:srgbClr val="222222"/>
                </a:solidFill>
                <a:effectLst/>
                <a:latin typeface="Inter-Regular"/>
              </a:rPr>
              <a:t>DataFrame</a:t>
            </a:r>
            <a:r>
              <a:rPr kumimoji="0" lang="en-US" sz="2000" b="0" i="0" u="none" strike="noStrike" cap="none" normalizeH="0" baseline="0" dirty="0" smtClean="0">
                <a:ln>
                  <a:noFill/>
                </a:ln>
                <a:solidFill>
                  <a:srgbClr val="222222"/>
                </a:solidFill>
                <a:effectLst/>
                <a:latin typeface="Inter-Regular"/>
              </a:rPr>
              <a:t>.</a:t>
            </a:r>
            <a:endParaRPr kumimoji="0" lang="en-US" sz="2000" b="0" i="0" u="none" strike="noStrike" cap="none" normalizeH="0" baseline="0" dirty="0" smtClean="0">
              <a:ln>
                <a:noFill/>
              </a:ln>
              <a:solidFill>
                <a:schemeClr val="tx1"/>
              </a:solidFill>
              <a:effectLst/>
            </a:endParaRP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sz="2000" b="0" i="0" u="none" strike="noStrike" cap="none" normalizeH="0" baseline="0" dirty="0" smtClean="0">
                <a:ln>
                  <a:noFill/>
                </a:ln>
                <a:solidFill>
                  <a:srgbClr val="222222"/>
                </a:solidFill>
                <a:effectLst/>
                <a:latin typeface="Inter-Regular"/>
              </a:rPr>
              <a:t>We can use </a:t>
            </a:r>
            <a:r>
              <a:rPr kumimoji="0" lang="en-US" sz="2000" b="0" i="0" u="none" strike="noStrike" cap="none" normalizeH="0" baseline="0" dirty="0" err="1" smtClean="0">
                <a:ln>
                  <a:noFill/>
                </a:ln>
                <a:solidFill>
                  <a:srgbClr val="6C0B24"/>
                </a:solidFill>
                <a:effectLst/>
                <a:latin typeface="Consolas" panose="020B0609020204030204" pitchFamily="49" charset="0"/>
              </a:rPr>
              <a:t>DataFrame.iloc</a:t>
            </a:r>
            <a:r>
              <a:rPr kumimoji="0" lang="en-US" sz="2000" b="0" i="0" u="none" strike="noStrike" cap="none" normalizeH="0" baseline="0" dirty="0" smtClean="0">
                <a:ln>
                  <a:noFill/>
                </a:ln>
                <a:solidFill>
                  <a:srgbClr val="222222"/>
                </a:solidFill>
                <a:effectLst/>
                <a:latin typeface="Inter-Regular"/>
              </a:rPr>
              <a:t> in the </a:t>
            </a:r>
            <a:r>
              <a:rPr kumimoji="0" lang="en-US" sz="2000" b="0" i="0" u="none" strike="noStrike" cap="none" normalizeH="0" baseline="0" dirty="0" smtClean="0">
                <a:ln>
                  <a:noFill/>
                </a:ln>
                <a:solidFill>
                  <a:srgbClr val="6C0B24"/>
                </a:solidFill>
                <a:effectLst/>
                <a:latin typeface="Consolas" panose="020B0609020204030204" pitchFamily="49" charset="0"/>
              </a:rPr>
              <a:t>columns</a:t>
            </a:r>
            <a:r>
              <a:rPr kumimoji="0" lang="en-US" sz="2000" b="0" i="0" u="none" strike="noStrike" cap="none" normalizeH="0" baseline="0" dirty="0" smtClean="0">
                <a:ln>
                  <a:noFill/>
                </a:ln>
                <a:solidFill>
                  <a:srgbClr val="222222"/>
                </a:solidFill>
                <a:effectLst/>
                <a:latin typeface="Inter-Regular"/>
              </a:rPr>
              <a:t> parameter to specify the index position of the columns which need to drop.</a:t>
            </a:r>
            <a:endParaRPr kumimoji="0" lang="en-US" sz="2000" b="0" i="0" u="none" strike="noStrike" cap="none" normalizeH="0" baseline="0" dirty="0" smtClean="0">
              <a:ln>
                <a:noFill/>
              </a:ln>
              <a:solidFill>
                <a:schemeClr val="tx1"/>
              </a:solidFill>
              <a:effectLst/>
            </a:endParaRPr>
          </a:p>
        </p:txBody>
      </p:sp>
      <p:sp>
        <p:nvSpPr>
          <p:cNvPr id="3" name="Rectangle 1"/>
          <p:cNvSpPr>
            <a:spLocks noChangeArrowheads="1"/>
          </p:cNvSpPr>
          <p:nvPr/>
        </p:nvSpPr>
        <p:spPr bwMode="auto">
          <a:xfrm>
            <a:off x="150126" y="3668051"/>
            <a:ext cx="11791666" cy="2292394"/>
          </a:xfrm>
          <a:prstGeom prst="rect">
            <a:avLst/>
          </a:prstGeom>
          <a:solidFill>
            <a:srgbClr val="F9F2F4"/>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0" tIns="268203" rIns="0" bIns="223767"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50000"/>
              </a:lnSpc>
              <a:spcBef>
                <a:spcPct val="0"/>
              </a:spcBef>
              <a:spcAft>
                <a:spcPct val="0"/>
              </a:spcAft>
              <a:buClrTx/>
              <a:buSzTx/>
              <a:buFontTx/>
              <a:buNone/>
              <a:tabLst/>
            </a:pPr>
            <a:r>
              <a:rPr kumimoji="0" lang="en-US" sz="2000" b="1" i="0" u="none" strike="noStrike" cap="none" normalizeH="0" baseline="0" dirty="0" smtClean="0">
                <a:ln>
                  <a:noFill/>
                </a:ln>
                <a:solidFill>
                  <a:srgbClr val="1C2B41"/>
                </a:solidFill>
                <a:effectLst/>
                <a:latin typeface="Inter-Bold"/>
              </a:rPr>
              <a:t>Drop first n columns</a:t>
            </a: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sz="2000" b="0" i="0" u="none" strike="noStrike" cap="none" normalizeH="0" baseline="0" dirty="0" smtClean="0">
                <a:ln>
                  <a:noFill/>
                </a:ln>
                <a:solidFill>
                  <a:srgbClr val="222222"/>
                </a:solidFill>
                <a:effectLst/>
                <a:latin typeface="Inter-Regular"/>
              </a:rPr>
              <a:t>If we need to delete the first ‘n’ columns from a </a:t>
            </a:r>
            <a:r>
              <a:rPr kumimoji="0" lang="en-US" sz="2000" b="0" i="0" u="none" strike="noStrike" cap="none" normalizeH="0" baseline="0" dirty="0" err="1" smtClean="0">
                <a:ln>
                  <a:noFill/>
                </a:ln>
                <a:solidFill>
                  <a:srgbClr val="222222"/>
                </a:solidFill>
                <a:effectLst/>
                <a:latin typeface="Inter-Regular"/>
              </a:rPr>
              <a:t>DataFrame</a:t>
            </a:r>
            <a:r>
              <a:rPr kumimoji="0" lang="en-US" sz="2000" b="0" i="0" u="none" strike="noStrike" cap="none" normalizeH="0" baseline="0" dirty="0" smtClean="0">
                <a:ln>
                  <a:noFill/>
                </a:ln>
                <a:solidFill>
                  <a:srgbClr val="222222"/>
                </a:solidFill>
                <a:effectLst/>
                <a:latin typeface="Inter-Regular"/>
              </a:rPr>
              <a:t>, we can use </a:t>
            </a:r>
            <a:r>
              <a:rPr kumimoji="0" lang="en-US" sz="2000" b="0" i="0" u="none" strike="noStrike" cap="none" normalizeH="0" baseline="0" dirty="0" err="1" smtClean="0">
                <a:ln>
                  <a:noFill/>
                </a:ln>
                <a:solidFill>
                  <a:srgbClr val="6C0B24"/>
                </a:solidFill>
                <a:effectLst/>
                <a:latin typeface="Consolas" panose="020B0609020204030204" pitchFamily="49" charset="0"/>
              </a:rPr>
              <a:t>DataFrame.iloc</a:t>
            </a:r>
            <a:r>
              <a:rPr kumimoji="0" lang="en-US" sz="2000" b="0" i="0" u="none" strike="noStrike" cap="none" normalizeH="0" baseline="0" dirty="0" smtClean="0">
                <a:ln>
                  <a:noFill/>
                </a:ln>
                <a:solidFill>
                  <a:srgbClr val="222222"/>
                </a:solidFill>
                <a:effectLst/>
                <a:latin typeface="Inter-Regular"/>
              </a:rPr>
              <a:t> and the </a:t>
            </a:r>
            <a:r>
              <a:rPr kumimoji="0" lang="en-US" sz="2000" b="0" i="0" u="sng" strike="noStrike" cap="none" normalizeH="0" baseline="0" dirty="0" smtClean="0">
                <a:ln>
                  <a:noFill/>
                </a:ln>
                <a:solidFill>
                  <a:srgbClr val="1E69DE"/>
                </a:solidFill>
                <a:effectLst/>
                <a:latin typeface="Inter-Regular"/>
                <a:hlinkClick r:id="rId2"/>
              </a:rPr>
              <a:t>Python </a:t>
            </a:r>
            <a:r>
              <a:rPr kumimoji="0" lang="en-US" sz="2000" b="0" i="0" u="sng" strike="noStrike" cap="none" normalizeH="0" baseline="0" dirty="0" smtClean="0">
                <a:ln>
                  <a:noFill/>
                </a:ln>
                <a:solidFill>
                  <a:srgbClr val="1E69DE"/>
                </a:solidFill>
                <a:effectLst/>
                <a:latin typeface="Consolas" panose="020B0609020204030204" pitchFamily="49" charset="0"/>
                <a:hlinkClick r:id="rId2"/>
              </a:rPr>
              <a:t>range()</a:t>
            </a:r>
            <a:r>
              <a:rPr kumimoji="0" lang="en-US" sz="2000" b="0" i="0" u="none" strike="noStrike" cap="none" normalizeH="0" baseline="0" dirty="0" smtClean="0">
                <a:ln>
                  <a:noFill/>
                </a:ln>
                <a:solidFill>
                  <a:srgbClr val="222222"/>
                </a:solidFill>
                <a:effectLst/>
                <a:latin typeface="Inter-Regular"/>
              </a:rPr>
              <a:t> function to specify the columns’ range to be deleted.</a:t>
            </a:r>
            <a:endParaRPr kumimoji="0" lang="en-US" sz="2000" b="0" i="0" u="none" strike="noStrike" cap="none" normalizeH="0" baseline="0" dirty="0" smtClean="0">
              <a:ln>
                <a:noFill/>
              </a:ln>
              <a:solidFill>
                <a:schemeClr val="tx1"/>
              </a:solidFill>
              <a:effectLst/>
            </a:endParaRP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sz="2000" b="0" i="0" u="none" strike="noStrike" cap="none" normalizeH="0" baseline="0" dirty="0" smtClean="0">
                <a:ln>
                  <a:noFill/>
                </a:ln>
                <a:solidFill>
                  <a:srgbClr val="222222"/>
                </a:solidFill>
                <a:effectLst/>
                <a:latin typeface="Inter-Regular"/>
              </a:rPr>
              <a:t>We need to use the built-in function range() with </a:t>
            </a:r>
            <a:r>
              <a:rPr kumimoji="0" lang="en-US" sz="2000" b="0" i="0" u="none" strike="noStrike" cap="none" normalizeH="0" baseline="0" dirty="0" smtClean="0">
                <a:ln>
                  <a:noFill/>
                </a:ln>
                <a:solidFill>
                  <a:srgbClr val="6C0B24"/>
                </a:solidFill>
                <a:effectLst/>
                <a:latin typeface="Consolas" panose="020B0609020204030204" pitchFamily="49" charset="0"/>
              </a:rPr>
              <a:t>columns </a:t>
            </a:r>
            <a:r>
              <a:rPr kumimoji="0" lang="en-US" sz="2000" b="0" i="0" u="none" strike="noStrike" cap="none" normalizeH="0" baseline="0" dirty="0" smtClean="0">
                <a:ln>
                  <a:noFill/>
                </a:ln>
                <a:solidFill>
                  <a:srgbClr val="222222"/>
                </a:solidFill>
                <a:effectLst/>
                <a:latin typeface="Inter-Regular"/>
              </a:rPr>
              <a:t>parameter of </a:t>
            </a:r>
            <a:r>
              <a:rPr kumimoji="0" lang="en-US" sz="2000" b="0" i="0" u="none" strike="noStrike" cap="none" normalizeH="0" baseline="0" dirty="0" err="1" smtClean="0">
                <a:ln>
                  <a:noFill/>
                </a:ln>
                <a:solidFill>
                  <a:srgbClr val="6C0B24"/>
                </a:solidFill>
                <a:effectLst/>
                <a:latin typeface="Consolas" panose="020B0609020204030204" pitchFamily="49" charset="0"/>
              </a:rPr>
              <a:t>DataFrame.drop</a:t>
            </a:r>
            <a:r>
              <a:rPr kumimoji="0" lang="en-US" sz="2000" b="0" i="0" u="none" strike="noStrike" cap="none" normalizeH="0" baseline="0" dirty="0" smtClean="0">
                <a:ln>
                  <a:noFill/>
                </a:ln>
                <a:solidFill>
                  <a:srgbClr val="6C0B24"/>
                </a:solidFill>
                <a:effectLst/>
                <a:latin typeface="Consolas" panose="020B0609020204030204" pitchFamily="49" charset="0"/>
              </a:rPr>
              <a:t>()</a:t>
            </a:r>
            <a:r>
              <a:rPr kumimoji="0" lang="en-US" sz="2000" b="0" i="0" u="none" strike="noStrike" cap="none" normalizeH="0" baseline="0" dirty="0" smtClean="0">
                <a:ln>
                  <a:noFill/>
                </a:ln>
                <a:solidFill>
                  <a:srgbClr val="222222"/>
                </a:solidFill>
                <a:effectLst/>
                <a:latin typeface="Inter-Regular"/>
              </a:rPr>
              <a:t>.</a:t>
            </a:r>
            <a:endParaRPr kumimoji="0" lang="en-US" sz="2000" b="0" i="0" u="none" strike="noStrike" cap="none" normalizeH="0" baseline="0" dirty="0" smtClean="0">
              <a:ln>
                <a:noFill/>
              </a:ln>
              <a:solidFill>
                <a:schemeClr val="tx1"/>
              </a:solidFill>
              <a:effectLst/>
            </a:endParaRPr>
          </a:p>
        </p:txBody>
      </p:sp>
    </p:spTree>
    <p:extLst>
      <p:ext uri="{BB962C8B-B14F-4D97-AF65-F5344CB8AC3E}">
        <p14:creationId xmlns:p14="http://schemas.microsoft.com/office/powerpoint/2010/main" xmlns="" val="278613661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191067" y="76541"/>
            <a:ext cx="11532360" cy="3359096"/>
          </a:xfrm>
          <a:prstGeom prst="rect">
            <a:avLst/>
          </a:prstGeom>
          <a:solidFill>
            <a:srgbClr val="FEFEFE"/>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0" tIns="268203" rIns="0" bIns="223767"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50000"/>
              </a:lnSpc>
              <a:spcBef>
                <a:spcPct val="0"/>
              </a:spcBef>
              <a:spcAft>
                <a:spcPct val="0"/>
              </a:spcAft>
              <a:buClrTx/>
              <a:buSzTx/>
              <a:buFontTx/>
              <a:buNone/>
              <a:tabLst/>
            </a:pPr>
            <a:r>
              <a:rPr kumimoji="0" lang="en-US" sz="2400" b="1" i="0" u="none" strike="noStrike" cap="none" normalizeH="0" baseline="0" dirty="0" smtClean="0">
                <a:ln>
                  <a:noFill/>
                </a:ln>
                <a:solidFill>
                  <a:srgbClr val="1C2B41"/>
                </a:solidFill>
                <a:effectLst/>
                <a:latin typeface="Inter-Bold"/>
              </a:rPr>
              <a:t>Drop column using pandas </a:t>
            </a:r>
            <a:r>
              <a:rPr kumimoji="0" lang="en-US" sz="2400" b="1" i="0" u="none" strike="noStrike" cap="none" normalizeH="0" baseline="0" dirty="0" err="1" smtClean="0">
                <a:ln>
                  <a:noFill/>
                </a:ln>
                <a:solidFill>
                  <a:srgbClr val="1C2B41"/>
                </a:solidFill>
                <a:effectLst/>
                <a:latin typeface="Consolas" panose="020B0609020204030204" pitchFamily="49" charset="0"/>
              </a:rPr>
              <a:t>DataFrame.pop</a:t>
            </a:r>
            <a:r>
              <a:rPr kumimoji="0" lang="en-US" sz="2400" b="1" i="0" u="none" strike="noStrike" cap="none" normalizeH="0" baseline="0" dirty="0" smtClean="0">
                <a:ln>
                  <a:noFill/>
                </a:ln>
                <a:solidFill>
                  <a:srgbClr val="1C2B41"/>
                </a:solidFill>
                <a:effectLst/>
                <a:latin typeface="Consolas" panose="020B0609020204030204" pitchFamily="49" charset="0"/>
              </a:rPr>
              <a:t>()</a:t>
            </a:r>
            <a:r>
              <a:rPr kumimoji="0" lang="en-US" sz="2400" b="1" i="0" u="none" strike="noStrike" cap="none" normalizeH="0" baseline="0" dirty="0" smtClean="0">
                <a:ln>
                  <a:noFill/>
                </a:ln>
                <a:solidFill>
                  <a:srgbClr val="1C2B41"/>
                </a:solidFill>
                <a:effectLst/>
                <a:latin typeface="Inter-Bold"/>
              </a:rPr>
              <a:t> function</a:t>
            </a: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sz="2000" b="0" i="0" u="none" strike="noStrike" cap="none" normalizeH="0" baseline="0" dirty="0" smtClean="0">
                <a:ln>
                  <a:noFill/>
                </a:ln>
                <a:solidFill>
                  <a:srgbClr val="222222"/>
                </a:solidFill>
                <a:effectLst/>
                <a:latin typeface="Inter-Regular"/>
              </a:rPr>
              <a:t>If we want to delete a single column then we can also do that using </a:t>
            </a:r>
            <a:r>
              <a:rPr kumimoji="0" lang="en-US" sz="2000" b="0" i="0" u="none" strike="noStrike" cap="none" normalizeH="0" baseline="0" dirty="0" err="1" smtClean="0">
                <a:ln>
                  <a:noFill/>
                </a:ln>
                <a:solidFill>
                  <a:srgbClr val="6C0B24"/>
                </a:solidFill>
                <a:effectLst/>
                <a:latin typeface="Consolas" panose="020B0609020204030204" pitchFamily="49" charset="0"/>
              </a:rPr>
              <a:t>DataFrame.pop</a:t>
            </a:r>
            <a:r>
              <a:rPr kumimoji="0" lang="en-US" sz="2000" b="0" i="0" u="none" strike="noStrike" cap="none" normalizeH="0" baseline="0" dirty="0" smtClean="0">
                <a:ln>
                  <a:noFill/>
                </a:ln>
                <a:solidFill>
                  <a:srgbClr val="6C0B24"/>
                </a:solidFill>
                <a:effectLst/>
                <a:latin typeface="Consolas" panose="020B0609020204030204" pitchFamily="49" charset="0"/>
              </a:rPr>
              <a:t>(</a:t>
            </a:r>
            <a:r>
              <a:rPr kumimoji="0" lang="en-US" sz="2000" b="0" i="0" u="none" strike="noStrike" cap="none" normalizeH="0" baseline="0" dirty="0" err="1" smtClean="0">
                <a:ln>
                  <a:noFill/>
                </a:ln>
                <a:solidFill>
                  <a:srgbClr val="6C0B24"/>
                </a:solidFill>
                <a:effectLst/>
                <a:latin typeface="Consolas" panose="020B0609020204030204" pitchFamily="49" charset="0"/>
              </a:rPr>
              <a:t>col_label</a:t>
            </a:r>
            <a:r>
              <a:rPr kumimoji="0" lang="en-US" sz="2000" b="0" i="0" u="none" strike="noStrike" cap="none" normalizeH="0" baseline="0" dirty="0" smtClean="0">
                <a:ln>
                  <a:noFill/>
                </a:ln>
                <a:solidFill>
                  <a:srgbClr val="6C0B24"/>
                </a:solidFill>
                <a:effectLst/>
                <a:latin typeface="Consolas" panose="020B0609020204030204" pitchFamily="49" charset="0"/>
              </a:rPr>
              <a:t>)</a:t>
            </a:r>
            <a:r>
              <a:rPr kumimoji="0" lang="en-US" sz="2000" b="0" i="0" u="none" strike="noStrike" cap="none" normalizeH="0" baseline="0" dirty="0" smtClean="0">
                <a:ln>
                  <a:noFill/>
                </a:ln>
                <a:solidFill>
                  <a:srgbClr val="222222"/>
                </a:solidFill>
                <a:effectLst/>
                <a:latin typeface="Inter-Regular"/>
              </a:rPr>
              <a:t> function. We need to pass a column label that needs to delete.</a:t>
            </a:r>
            <a:endParaRPr kumimoji="0" lang="en-US" sz="2000" b="0" i="0" u="none" strike="noStrike" cap="none" normalizeH="0" baseline="0" dirty="0" smtClean="0">
              <a:ln>
                <a:noFill/>
              </a:ln>
              <a:solidFill>
                <a:schemeClr val="tx1"/>
              </a:solidFill>
              <a:effectLst/>
            </a:endParaRP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sz="2000" b="0" i="0" u="none" strike="noStrike" cap="none" normalizeH="0" baseline="0" dirty="0" smtClean="0">
                <a:ln>
                  <a:noFill/>
                </a:ln>
                <a:solidFill>
                  <a:srgbClr val="222222"/>
                </a:solidFill>
                <a:effectLst/>
                <a:latin typeface="Inter-Regular"/>
              </a:rPr>
              <a:t>It removes the column in-place by updating the existing </a:t>
            </a:r>
            <a:r>
              <a:rPr kumimoji="0" lang="en-US" sz="2000" b="0" i="0" u="none" strike="noStrike" cap="none" normalizeH="0" baseline="0" dirty="0" err="1" smtClean="0">
                <a:ln>
                  <a:noFill/>
                </a:ln>
                <a:solidFill>
                  <a:srgbClr val="222222"/>
                </a:solidFill>
                <a:effectLst/>
                <a:latin typeface="Inter-Regular"/>
              </a:rPr>
              <a:t>DataFrame</a:t>
            </a:r>
            <a:r>
              <a:rPr kumimoji="0" lang="en-US" sz="2000" b="0" i="0" u="none" strike="noStrike" cap="none" normalizeH="0" baseline="0" dirty="0" smtClean="0">
                <a:ln>
                  <a:noFill/>
                </a:ln>
                <a:solidFill>
                  <a:srgbClr val="222222"/>
                </a:solidFill>
                <a:effectLst/>
                <a:latin typeface="Inter-Regular"/>
              </a:rPr>
              <a:t>. It raises </a:t>
            </a:r>
            <a:r>
              <a:rPr kumimoji="0" lang="en-US" sz="2000" b="0" i="0" u="none" strike="noStrike" cap="none" normalizeH="0" baseline="0" dirty="0" err="1" smtClean="0">
                <a:ln>
                  <a:noFill/>
                </a:ln>
                <a:solidFill>
                  <a:srgbClr val="6C0B24"/>
                </a:solidFill>
                <a:effectLst/>
                <a:latin typeface="Consolas" panose="020B0609020204030204" pitchFamily="49" charset="0"/>
              </a:rPr>
              <a:t>KeyError</a:t>
            </a:r>
            <a:r>
              <a:rPr kumimoji="0" lang="en-US" sz="2000" b="0" i="0" u="none" strike="noStrike" cap="none" normalizeH="0" baseline="0" dirty="0" smtClean="0">
                <a:ln>
                  <a:noFill/>
                </a:ln>
                <a:solidFill>
                  <a:srgbClr val="222222"/>
                </a:solidFill>
                <a:effectLst/>
                <a:latin typeface="Inter-Regular"/>
              </a:rPr>
              <a:t> if the column is not found.</a:t>
            </a:r>
            <a:endParaRPr kumimoji="0" lang="en-US" sz="2000" b="0" i="0" u="none" strike="noStrike" cap="none" normalizeH="0" baseline="0" dirty="0" smtClean="0">
              <a:ln>
                <a:noFill/>
              </a:ln>
              <a:solidFill>
                <a:schemeClr val="tx1"/>
              </a:solidFill>
              <a:effectLst/>
            </a:endParaRP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sz="2000" b="1" i="0" u="none" strike="noStrike" cap="none" normalizeH="0" baseline="0" dirty="0" smtClean="0">
                <a:ln>
                  <a:noFill/>
                </a:ln>
                <a:solidFill>
                  <a:srgbClr val="222222"/>
                </a:solidFill>
                <a:effectLst/>
                <a:latin typeface="Inter-Regular"/>
              </a:rPr>
              <a:t>Note:</a:t>
            </a:r>
            <a:r>
              <a:rPr kumimoji="0" lang="en-US" sz="2000" b="0" i="0" u="none" strike="noStrike" cap="none" normalizeH="0" baseline="0" dirty="0" smtClean="0">
                <a:ln>
                  <a:noFill/>
                </a:ln>
                <a:solidFill>
                  <a:srgbClr val="222222"/>
                </a:solidFill>
                <a:effectLst/>
                <a:latin typeface="Inter-Regular"/>
              </a:rPr>
              <a:t> It can be used to drop a column only. </a:t>
            </a:r>
            <a:r>
              <a:rPr kumimoji="0" lang="en-US" sz="2000" b="1" i="0" u="none" strike="noStrike" cap="none" normalizeH="0" baseline="0" dirty="0" smtClean="0">
                <a:ln>
                  <a:noFill/>
                </a:ln>
                <a:solidFill>
                  <a:srgbClr val="FF0000"/>
                </a:solidFill>
                <a:effectLst/>
                <a:latin typeface="Inter-Regular"/>
              </a:rPr>
              <a:t>It cannot drop multiple columns or row(s).</a:t>
            </a:r>
            <a:endParaRPr kumimoji="0" lang="en-US" sz="2000" b="1" i="0" u="none" strike="noStrike" cap="none" normalizeH="0" baseline="0" dirty="0" smtClean="0">
              <a:ln>
                <a:noFill/>
              </a:ln>
              <a:solidFill>
                <a:srgbClr val="FF0000"/>
              </a:solidFill>
              <a:effectLst/>
            </a:endParaRPr>
          </a:p>
        </p:txBody>
      </p:sp>
      <p:sp>
        <p:nvSpPr>
          <p:cNvPr id="4" name="Rectangle 3"/>
          <p:cNvSpPr>
            <a:spLocks noChangeArrowheads="1"/>
          </p:cNvSpPr>
          <p:nvPr/>
        </p:nvSpPr>
        <p:spPr bwMode="auto">
          <a:xfrm>
            <a:off x="177421" y="3506080"/>
            <a:ext cx="11464120" cy="1824767"/>
          </a:xfrm>
          <a:prstGeom prst="rect">
            <a:avLst/>
          </a:prstGeom>
          <a:solidFill>
            <a:srgbClr val="F9F2F4"/>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0" tIns="268203" rIns="0" bIns="223767"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sz="2000" b="1" i="0" u="none" strike="noStrike" cap="none" normalizeH="0" baseline="0" smtClean="0">
                <a:ln>
                  <a:noFill/>
                </a:ln>
                <a:solidFill>
                  <a:srgbClr val="1C2B41"/>
                </a:solidFill>
                <a:effectLst/>
                <a:latin typeface="Inter-Bold"/>
              </a:rPr>
              <a:t>Drop column using pandas DataFrame delete</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sz="2000" b="0" i="0" u="none" strike="noStrike" cap="none" normalizeH="0" baseline="0" smtClean="0">
                <a:ln>
                  <a:noFill/>
                </a:ln>
                <a:solidFill>
                  <a:srgbClr val="222222"/>
                </a:solidFill>
                <a:effectLst/>
                <a:latin typeface="Inter-Regular"/>
              </a:rPr>
              <a:t>We can also use the pandas inbuilt function </a:t>
            </a:r>
            <a:r>
              <a:rPr kumimoji="0" lang="en-US" sz="2000" b="0" i="0" u="none" strike="noStrike" cap="none" normalizeH="0" baseline="0" smtClean="0">
                <a:ln>
                  <a:noFill/>
                </a:ln>
                <a:solidFill>
                  <a:srgbClr val="6C0B24"/>
                </a:solidFill>
                <a:effectLst/>
                <a:latin typeface="Consolas" panose="020B0609020204030204" pitchFamily="49" charset="0"/>
              </a:rPr>
              <a:t>del</a:t>
            </a:r>
            <a:r>
              <a:rPr kumimoji="0" lang="en-US" sz="2000" b="0" i="0" u="none" strike="noStrike" cap="none" normalizeH="0" baseline="0" smtClean="0">
                <a:ln>
                  <a:noFill/>
                </a:ln>
                <a:solidFill>
                  <a:srgbClr val="222222"/>
                </a:solidFill>
                <a:effectLst/>
                <a:latin typeface="Inter-Regular"/>
              </a:rPr>
              <a:t> to drop a single column from a DataFrame. It is a very simplified way of dropping the column from a DataFrame.</a:t>
            </a:r>
            <a:endParaRPr kumimoji="0" lang="en-US" sz="2000" b="0" i="0" u="none" strike="noStrike" cap="none" normalizeH="0" baseline="0" smtClean="0">
              <a:ln>
                <a:noFill/>
              </a:ln>
              <a:solidFill>
                <a:schemeClr val="tx1"/>
              </a:solidFill>
              <a:effectLst/>
            </a:endParaRPr>
          </a:p>
        </p:txBody>
      </p:sp>
      <p:sp>
        <p:nvSpPr>
          <p:cNvPr id="5" name="Rectangle 4"/>
          <p:cNvSpPr>
            <a:spLocks noChangeArrowheads="1"/>
          </p:cNvSpPr>
          <p:nvPr/>
        </p:nvSpPr>
        <p:spPr bwMode="auto">
          <a:xfrm>
            <a:off x="191068" y="5427169"/>
            <a:ext cx="11709780" cy="964623"/>
          </a:xfrm>
          <a:prstGeom prst="rect">
            <a:avLst/>
          </a:prstGeom>
          <a:solidFill>
            <a:srgbClr val="383B4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50000"/>
              </a:lnSpc>
              <a:spcBef>
                <a:spcPct val="0"/>
              </a:spcBef>
              <a:spcAft>
                <a:spcPct val="0"/>
              </a:spcAft>
              <a:buClrTx/>
              <a:buSzTx/>
              <a:buFontTx/>
              <a:buNone/>
              <a:tabLst/>
            </a:pPr>
            <a:r>
              <a:rPr kumimoji="0" lang="en-US" sz="2000" b="0" i="0" u="none" strike="noStrike" cap="none" normalizeH="0" baseline="0" dirty="0" smtClean="0">
                <a:ln>
                  <a:noFill/>
                </a:ln>
                <a:solidFill>
                  <a:schemeClr val="bg1"/>
                </a:solidFill>
                <a:effectLst/>
                <a:latin typeface="Inter-Regular"/>
              </a:rPr>
              <a:t>We need to select the column of </a:t>
            </a:r>
            <a:r>
              <a:rPr kumimoji="0" lang="en-US" sz="2000" b="0" i="0" u="none" strike="noStrike" cap="none" normalizeH="0" baseline="0" dirty="0" err="1" smtClean="0">
                <a:ln>
                  <a:noFill/>
                </a:ln>
                <a:solidFill>
                  <a:schemeClr val="bg1"/>
                </a:solidFill>
                <a:effectLst/>
                <a:latin typeface="Inter-Regular"/>
              </a:rPr>
              <a:t>DataFrame</a:t>
            </a:r>
            <a:r>
              <a:rPr kumimoji="0" lang="en-US" sz="2000" b="0" i="0" u="none" strike="noStrike" cap="none" normalizeH="0" baseline="0" dirty="0" smtClean="0">
                <a:ln>
                  <a:noFill/>
                </a:ln>
                <a:solidFill>
                  <a:schemeClr val="bg1"/>
                </a:solidFill>
                <a:effectLst/>
                <a:latin typeface="Inter-Regular"/>
              </a:rPr>
              <a:t> which needs to be deleted and pass it as  </a:t>
            </a:r>
            <a:r>
              <a:rPr kumimoji="0" lang="en-US" sz="2000" b="1" i="0" u="none" strike="noStrike" cap="none" normalizeH="0" baseline="0" dirty="0" smtClean="0">
                <a:ln>
                  <a:noFill/>
                </a:ln>
                <a:solidFill>
                  <a:schemeClr val="bg1"/>
                </a:solidFill>
                <a:effectLst/>
                <a:latin typeface="Consolas" panose="020B0609020204030204" pitchFamily="49" charset="0"/>
              </a:rPr>
              <a:t>del</a:t>
            </a:r>
            <a:r>
              <a:rPr kumimoji="0" lang="en-US" sz="2000" b="0" i="0" u="none" strike="noStrike" cap="none" normalizeH="0" baseline="0" dirty="0" smtClean="0">
                <a:ln>
                  <a:noFill/>
                </a:ln>
                <a:solidFill>
                  <a:schemeClr val="bg1"/>
                </a:solidFill>
                <a:effectLst/>
                <a:latin typeface="Consolas" panose="020B0609020204030204" pitchFamily="49" charset="0"/>
              </a:rPr>
              <a:t> </a:t>
            </a:r>
            <a:r>
              <a:rPr kumimoji="0" lang="en-US" sz="2000" b="0" i="0" u="none" strike="noStrike" cap="none" normalizeH="0" baseline="0" dirty="0" err="1" smtClean="0">
                <a:ln>
                  <a:noFill/>
                </a:ln>
                <a:solidFill>
                  <a:schemeClr val="bg1"/>
                </a:solidFill>
                <a:effectLst/>
                <a:latin typeface="Consolas" panose="020B0609020204030204" pitchFamily="49" charset="0"/>
              </a:rPr>
              <a:t>df</a:t>
            </a:r>
            <a:r>
              <a:rPr kumimoji="0" lang="en-US" sz="2000" b="0" i="0" u="none" strike="noStrike" cap="none" normalizeH="0" baseline="0" dirty="0" smtClean="0">
                <a:ln>
                  <a:noFill/>
                </a:ln>
                <a:solidFill>
                  <a:schemeClr val="bg1"/>
                </a:solidFill>
                <a:effectLst/>
                <a:latin typeface="Consolas" panose="020B0609020204030204" pitchFamily="49" charset="0"/>
              </a:rPr>
              <a:t>[</a:t>
            </a:r>
            <a:r>
              <a:rPr kumimoji="0" lang="en-US" sz="2000" b="0" i="0" u="none" strike="noStrike" cap="none" normalizeH="0" baseline="0" dirty="0" err="1" smtClean="0">
                <a:ln>
                  <a:noFill/>
                </a:ln>
                <a:solidFill>
                  <a:schemeClr val="bg1"/>
                </a:solidFill>
                <a:effectLst/>
                <a:latin typeface="Consolas" panose="020B0609020204030204" pitchFamily="49" charset="0"/>
              </a:rPr>
              <a:t>col_label</a:t>
            </a:r>
            <a:r>
              <a:rPr kumimoji="0" lang="en-US" sz="2000" b="0" i="0" u="none" strike="noStrike" cap="none" normalizeH="0" baseline="0" dirty="0" smtClean="0">
                <a:ln>
                  <a:noFill/>
                </a:ln>
                <a:solidFill>
                  <a:schemeClr val="bg1"/>
                </a:solidFill>
                <a:effectLst/>
                <a:latin typeface="Consolas" panose="020B0609020204030204" pitchFamily="49" charset="0"/>
              </a:rPr>
              <a:t>]</a:t>
            </a:r>
            <a:r>
              <a:rPr kumimoji="0" lang="en-US" sz="2000" b="0" i="0" u="none" strike="noStrike" cap="none" normalizeH="0" baseline="0" dirty="0" smtClean="0">
                <a:ln>
                  <a:noFill/>
                </a:ln>
                <a:solidFill>
                  <a:schemeClr val="bg1"/>
                </a:solidFill>
                <a:effectLst/>
                <a:latin typeface="Inter-Regular"/>
              </a:rPr>
              <a:t>.</a:t>
            </a:r>
            <a:r>
              <a:rPr kumimoji="0" lang="en-US" sz="2000" b="0" i="0" u="none" strike="noStrike" cap="none" normalizeH="0" baseline="0" dirty="0" smtClean="0">
                <a:ln>
                  <a:noFill/>
                </a:ln>
                <a:solidFill>
                  <a:schemeClr val="bg1"/>
                </a:solidFill>
                <a:effectLst/>
              </a:rPr>
              <a:t> </a:t>
            </a:r>
          </a:p>
        </p:txBody>
      </p:sp>
    </p:spTree>
    <p:extLst>
      <p:ext uri="{BB962C8B-B14F-4D97-AF65-F5344CB8AC3E}">
        <p14:creationId xmlns:p14="http://schemas.microsoft.com/office/powerpoint/2010/main" xmlns="" val="27449423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cstate="print"/>
          <a:srcRect l="25071" t="23275" r="27832" b="36054"/>
          <a:stretch/>
        </p:blipFill>
        <p:spPr>
          <a:xfrm>
            <a:off x="736978" y="354840"/>
            <a:ext cx="10990768" cy="5336275"/>
          </a:xfrm>
          <a:prstGeom prst="rect">
            <a:avLst/>
          </a:prstGeom>
        </p:spPr>
      </p:pic>
    </p:spTree>
    <p:extLst>
      <p:ext uri="{BB962C8B-B14F-4D97-AF65-F5344CB8AC3E}">
        <p14:creationId xmlns:p14="http://schemas.microsoft.com/office/powerpoint/2010/main" xmlns="" val="1557147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0059" y="2274838"/>
            <a:ext cx="9403307" cy="646331"/>
          </a:xfrm>
          <a:prstGeom prst="rect">
            <a:avLst/>
          </a:prstGeom>
        </p:spPr>
        <p:txBody>
          <a:bodyPr wrap="square">
            <a:spAutoFit/>
          </a:bodyPr>
          <a:lstStyle/>
          <a:p>
            <a:pPr algn="ctr"/>
            <a:r>
              <a:rPr lang="en-US" sz="3600" b="1" dirty="0">
                <a:solidFill>
                  <a:srgbClr val="333333"/>
                </a:solidFill>
                <a:latin typeface="Inter-Bold"/>
              </a:rPr>
              <a:t>Drop duplicates in pandas </a:t>
            </a:r>
            <a:r>
              <a:rPr lang="en-US" sz="3600" b="1" dirty="0" err="1" smtClean="0">
                <a:solidFill>
                  <a:srgbClr val="333333"/>
                </a:solidFill>
                <a:latin typeface="Inter-Bold"/>
              </a:rPr>
              <a:t>DataFrame</a:t>
            </a:r>
            <a:endParaRPr lang="en-US" sz="3600" b="1" dirty="0">
              <a:solidFill>
                <a:srgbClr val="333333"/>
              </a:solidFill>
              <a:latin typeface="Inter-Bold"/>
            </a:endParaRPr>
          </a:p>
        </p:txBody>
      </p:sp>
    </p:spTree>
    <p:extLst>
      <p:ext uri="{BB962C8B-B14F-4D97-AF65-F5344CB8AC3E}">
        <p14:creationId xmlns:p14="http://schemas.microsoft.com/office/powerpoint/2010/main" xmlns="" val="10645400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91151" y="259308"/>
            <a:ext cx="11773469" cy="1323439"/>
          </a:xfrm>
          <a:prstGeom prst="rect">
            <a:avLst/>
          </a:prstGeom>
        </p:spPr>
        <p:txBody>
          <a:bodyPr wrap="square">
            <a:spAutoFit/>
          </a:bodyPr>
          <a:lstStyle/>
          <a:p>
            <a:r>
              <a:rPr lang="en-US" sz="2000" b="1" dirty="0">
                <a:solidFill>
                  <a:srgbClr val="333333"/>
                </a:solidFill>
                <a:latin typeface="Inter-Bold"/>
              </a:rPr>
              <a:t>Drop duplicates in pandas </a:t>
            </a:r>
            <a:r>
              <a:rPr lang="en-US" sz="2000" b="1" dirty="0" err="1" smtClean="0">
                <a:solidFill>
                  <a:srgbClr val="333333"/>
                </a:solidFill>
                <a:latin typeface="Inter-Bold"/>
              </a:rPr>
              <a:t>DataFrame</a:t>
            </a:r>
            <a:endParaRPr lang="en-US" sz="2000" b="1" dirty="0" smtClean="0">
              <a:solidFill>
                <a:srgbClr val="333333"/>
              </a:solidFill>
              <a:latin typeface="Inter-Bold"/>
            </a:endParaRPr>
          </a:p>
          <a:p>
            <a:endParaRPr lang="en-US" sz="2000" b="1" dirty="0">
              <a:solidFill>
                <a:srgbClr val="333333"/>
              </a:solidFill>
              <a:latin typeface="Inter-Bold"/>
            </a:endParaRPr>
          </a:p>
          <a:p>
            <a:r>
              <a:rPr lang="en-US" sz="2000" dirty="0" smtClean="0">
                <a:solidFill>
                  <a:srgbClr val="222222"/>
                </a:solidFill>
                <a:latin typeface="Inter-Regular"/>
              </a:rPr>
              <a:t>Data </a:t>
            </a:r>
            <a:r>
              <a:rPr lang="en-US" sz="2000" dirty="0">
                <a:solidFill>
                  <a:srgbClr val="222222"/>
                </a:solidFill>
                <a:latin typeface="Inter-Regular"/>
              </a:rPr>
              <a:t>is gathered from various sources. It may not be in the proper form. It contains garbage values and duplicate data. Before analyzing a dataset, it must be clean and precise.</a:t>
            </a:r>
            <a:endParaRPr lang="en-US" sz="2000" b="0" i="0" dirty="0">
              <a:solidFill>
                <a:srgbClr val="222222"/>
              </a:solidFill>
              <a:effectLst/>
              <a:latin typeface="Inter-Regular"/>
            </a:endParaRPr>
          </a:p>
        </p:txBody>
      </p:sp>
      <p:sp>
        <p:nvSpPr>
          <p:cNvPr id="4" name="Rectangle 2"/>
          <p:cNvSpPr>
            <a:spLocks noChangeArrowheads="1"/>
          </p:cNvSpPr>
          <p:nvPr/>
        </p:nvSpPr>
        <p:spPr bwMode="auto">
          <a:xfrm>
            <a:off x="341194" y="1730692"/>
            <a:ext cx="11477767" cy="1363102"/>
          </a:xfrm>
          <a:prstGeom prst="rect">
            <a:avLst/>
          </a:prstGeom>
          <a:solidFill>
            <a:srgbClr val="F9F2F4"/>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0" tIns="268203" rIns="0" bIns="223767"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sz="2000" b="1" i="0" u="none" strike="noStrike" cap="none" normalizeH="0" baseline="0" smtClean="0">
                <a:ln>
                  <a:noFill/>
                </a:ln>
                <a:solidFill>
                  <a:srgbClr val="1C2B41"/>
                </a:solidFill>
                <a:effectLst/>
                <a:latin typeface="Inter-Bold"/>
              </a:rPr>
              <a:t>The </a:t>
            </a:r>
            <a:r>
              <a:rPr kumimoji="0" lang="en-US" sz="2000" b="1" i="0" u="none" strike="noStrike" cap="none" normalizeH="0" baseline="0" smtClean="0">
                <a:ln>
                  <a:noFill/>
                </a:ln>
                <a:solidFill>
                  <a:srgbClr val="1C2B41"/>
                </a:solidFill>
                <a:effectLst/>
                <a:latin typeface="Consolas" panose="020B0609020204030204" pitchFamily="49" charset="0"/>
              </a:rPr>
              <a:t>DataFrame.drop_duplicates()</a:t>
            </a:r>
            <a:r>
              <a:rPr kumimoji="0" lang="en-US" sz="2000" b="1" i="0" u="none" strike="noStrike" cap="none" normalizeH="0" baseline="0" smtClean="0">
                <a:ln>
                  <a:noFill/>
                </a:ln>
                <a:solidFill>
                  <a:srgbClr val="1C2B41"/>
                </a:solidFill>
                <a:effectLst/>
                <a:latin typeface="Inter-Bold"/>
              </a:rPr>
              <a:t> function</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sz="2000" b="0" i="0" u="none" strike="noStrike" cap="none" normalizeH="0" baseline="0" smtClean="0">
                <a:ln>
                  <a:noFill/>
                </a:ln>
                <a:solidFill>
                  <a:srgbClr val="222222"/>
                </a:solidFill>
                <a:effectLst/>
                <a:latin typeface="Inter-Regular"/>
              </a:rPr>
              <a:t>This function is used to remove the duplicate rows from a DataFrame.</a:t>
            </a:r>
            <a:endParaRPr kumimoji="0" lang="en-US" sz="2000" b="0" i="0" u="none" strike="noStrike" cap="none" normalizeH="0" baseline="0" smtClean="0">
              <a:ln>
                <a:noFill/>
              </a:ln>
              <a:solidFill>
                <a:schemeClr val="tx1"/>
              </a:solidFill>
              <a:effectLst/>
            </a:endParaRPr>
          </a:p>
        </p:txBody>
      </p:sp>
      <p:pic>
        <p:nvPicPr>
          <p:cNvPr id="5" name="Picture 4"/>
          <p:cNvPicPr>
            <a:picLocks noChangeAspect="1"/>
          </p:cNvPicPr>
          <p:nvPr/>
        </p:nvPicPr>
        <p:blipFill rotWithShape="1">
          <a:blip r:embed="rId2" cstate="print"/>
          <a:srcRect l="25595" t="60215" r="28462" b="32136"/>
          <a:stretch/>
        </p:blipFill>
        <p:spPr>
          <a:xfrm>
            <a:off x="395786" y="3684894"/>
            <a:ext cx="11226447" cy="1050879"/>
          </a:xfrm>
          <a:prstGeom prst="rect">
            <a:avLst/>
          </a:prstGeom>
        </p:spPr>
      </p:pic>
    </p:spTree>
    <p:extLst>
      <p:ext uri="{BB962C8B-B14F-4D97-AF65-F5344CB8AC3E}">
        <p14:creationId xmlns:p14="http://schemas.microsoft.com/office/powerpoint/2010/main" xmlns="" val="20851890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ChangeArrowheads="1"/>
          </p:cNvSpPr>
          <p:nvPr/>
        </p:nvSpPr>
        <p:spPr bwMode="auto">
          <a:xfrm>
            <a:off x="136478" y="334342"/>
            <a:ext cx="11696131" cy="6182725"/>
          </a:xfrm>
          <a:prstGeom prst="rect">
            <a:avLst/>
          </a:prstGeom>
          <a:solidFill>
            <a:srgbClr val="FEFEFE"/>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357075" tIns="0" rIns="0" bIns="179331"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rtl="0" eaLnBrk="0" fontAlgn="base" latinLnBrk="0" hangingPunct="0">
              <a:lnSpc>
                <a:spcPct val="150000"/>
              </a:lnSpc>
              <a:spcBef>
                <a:spcPct val="0"/>
              </a:spcBef>
              <a:spcAft>
                <a:spcPct val="0"/>
              </a:spcAft>
              <a:buClrTx/>
              <a:buSzTx/>
              <a:buFontTx/>
              <a:buNone/>
              <a:tabLst/>
            </a:pPr>
            <a:r>
              <a:rPr kumimoji="0" lang="en-US" sz="2000" b="1" i="0" u="none" strike="noStrike" cap="none" normalizeH="0" baseline="0" dirty="0" smtClean="0">
                <a:ln>
                  <a:noFill/>
                </a:ln>
                <a:solidFill>
                  <a:srgbClr val="222222"/>
                </a:solidFill>
                <a:effectLst/>
                <a:latin typeface="Inter-Regular"/>
              </a:rPr>
              <a:t>Parameters:</a:t>
            </a:r>
            <a:endParaRPr kumimoji="0" lang="en-US" sz="2000" b="0" i="0" u="none" strike="noStrike" cap="none" normalizeH="0" baseline="0" dirty="0" smtClean="0">
              <a:ln>
                <a:noFill/>
              </a:ln>
              <a:solidFill>
                <a:schemeClr val="tx1"/>
              </a:solidFill>
              <a:effectLst/>
            </a:endParaRPr>
          </a:p>
          <a:p>
            <a:pPr marL="0" marR="0" lvl="0" indent="0" defTabSz="914400" rtl="0" eaLnBrk="0" fontAlgn="base" latinLnBrk="0" hangingPunct="0">
              <a:lnSpc>
                <a:spcPct val="150000"/>
              </a:lnSpc>
              <a:spcBef>
                <a:spcPct val="0"/>
              </a:spcBef>
              <a:spcAft>
                <a:spcPct val="0"/>
              </a:spcAft>
              <a:buClrTx/>
              <a:buSzTx/>
              <a:buFontTx/>
              <a:buAutoNum type="arabicPeriod"/>
              <a:tabLst/>
            </a:pPr>
            <a:r>
              <a:rPr kumimoji="0" lang="en-US" sz="2000" b="1" i="0" u="none" strike="noStrike" cap="none" normalizeH="0" baseline="0" dirty="0" smtClean="0">
                <a:ln>
                  <a:noFill/>
                </a:ln>
                <a:solidFill>
                  <a:srgbClr val="6C0B24"/>
                </a:solidFill>
                <a:effectLst/>
                <a:latin typeface="Consolas" panose="020B0609020204030204" pitchFamily="49" charset="0"/>
              </a:rPr>
              <a:t>subset</a:t>
            </a:r>
            <a:r>
              <a:rPr kumimoji="0" lang="en-US" sz="2000" b="0" i="0" u="none" strike="noStrike" cap="none" normalizeH="0" baseline="0" dirty="0" smtClean="0">
                <a:ln>
                  <a:noFill/>
                </a:ln>
                <a:solidFill>
                  <a:srgbClr val="222222"/>
                </a:solidFill>
                <a:effectLst/>
                <a:latin typeface="Inter-Regular"/>
              </a:rPr>
              <a:t>: By default, if the rows have the same values in all the columns, they are considered duplicates. This parameter is used to specify the columns that only need to be considered for identifying duplicates.</a:t>
            </a:r>
          </a:p>
          <a:p>
            <a:pPr marL="0" marR="0" lvl="0" indent="0" defTabSz="914400" rtl="0" eaLnBrk="0" fontAlgn="base" latinLnBrk="0" hangingPunct="0">
              <a:lnSpc>
                <a:spcPct val="150000"/>
              </a:lnSpc>
              <a:spcBef>
                <a:spcPct val="0"/>
              </a:spcBef>
              <a:spcAft>
                <a:spcPct val="0"/>
              </a:spcAft>
              <a:buClrTx/>
              <a:buSzTx/>
              <a:buFontTx/>
              <a:buAutoNum type="arabicPeriod" startAt="2"/>
              <a:tabLst/>
            </a:pPr>
            <a:r>
              <a:rPr kumimoji="0" lang="en-US" sz="2000" b="1" i="0" u="none" strike="noStrike" cap="none" normalizeH="0" baseline="0" dirty="0" smtClean="0">
                <a:ln>
                  <a:noFill/>
                </a:ln>
                <a:solidFill>
                  <a:srgbClr val="6C0B24"/>
                </a:solidFill>
                <a:effectLst/>
                <a:latin typeface="Consolas" panose="020B0609020204030204" pitchFamily="49" charset="0"/>
              </a:rPr>
              <a:t>keep</a:t>
            </a:r>
            <a:r>
              <a:rPr kumimoji="0" lang="en-US" sz="2000" b="1" i="0" u="none" strike="noStrike" cap="none" normalizeH="0" baseline="0" dirty="0" smtClean="0">
                <a:ln>
                  <a:noFill/>
                </a:ln>
                <a:solidFill>
                  <a:srgbClr val="222222"/>
                </a:solidFill>
                <a:effectLst/>
                <a:latin typeface="Inter-Regular"/>
              </a:rPr>
              <a:t>:</a:t>
            </a:r>
            <a:r>
              <a:rPr kumimoji="0" lang="en-US" sz="2000" b="0" i="0" u="none" strike="noStrike" cap="none" normalizeH="0" baseline="0" dirty="0" smtClean="0">
                <a:ln>
                  <a:noFill/>
                </a:ln>
                <a:solidFill>
                  <a:srgbClr val="222222"/>
                </a:solidFill>
                <a:effectLst/>
                <a:latin typeface="Inter-Regular"/>
              </a:rPr>
              <a:t> Determines which duplicates (if any) to keep. It takes inputs as,</a:t>
            </a:r>
            <a:br>
              <a:rPr kumimoji="0" lang="en-US" sz="2000" b="0" i="0" u="none" strike="noStrike" cap="none" normalizeH="0" baseline="0" dirty="0" smtClean="0">
                <a:ln>
                  <a:noFill/>
                </a:ln>
                <a:solidFill>
                  <a:srgbClr val="222222"/>
                </a:solidFill>
                <a:effectLst/>
                <a:latin typeface="Inter-Regular"/>
              </a:rPr>
            </a:br>
            <a:r>
              <a:rPr kumimoji="0" lang="en-US" sz="2000" b="1" i="0" u="none" strike="noStrike" cap="none" normalizeH="0" baseline="0" dirty="0" smtClean="0">
                <a:ln>
                  <a:noFill/>
                </a:ln>
                <a:solidFill>
                  <a:srgbClr val="222222"/>
                </a:solidFill>
                <a:effectLst/>
                <a:latin typeface="Inter-Regular"/>
              </a:rPr>
              <a:t>first – </a:t>
            </a:r>
            <a:r>
              <a:rPr kumimoji="0" lang="en-US" sz="2000" b="0" i="0" u="none" strike="noStrike" cap="none" normalizeH="0" baseline="0" dirty="0" smtClean="0">
                <a:ln>
                  <a:noFill/>
                </a:ln>
                <a:solidFill>
                  <a:srgbClr val="222222"/>
                </a:solidFill>
                <a:effectLst/>
                <a:latin typeface="Inter-Regular"/>
              </a:rPr>
              <a:t>Drop duplicates except for the first occurrence. This is the default behavior.</a:t>
            </a:r>
            <a:br>
              <a:rPr kumimoji="0" lang="en-US" sz="2000" b="0" i="0" u="none" strike="noStrike" cap="none" normalizeH="0" baseline="0" dirty="0" smtClean="0">
                <a:ln>
                  <a:noFill/>
                </a:ln>
                <a:solidFill>
                  <a:srgbClr val="222222"/>
                </a:solidFill>
                <a:effectLst/>
                <a:latin typeface="Inter-Regular"/>
              </a:rPr>
            </a:br>
            <a:r>
              <a:rPr kumimoji="0" lang="en-US" sz="2000" b="1" i="0" u="none" strike="noStrike" cap="none" normalizeH="0" baseline="0" dirty="0" smtClean="0">
                <a:ln>
                  <a:noFill/>
                </a:ln>
                <a:solidFill>
                  <a:srgbClr val="222222"/>
                </a:solidFill>
                <a:effectLst/>
                <a:latin typeface="Inter-Regular"/>
              </a:rPr>
              <a:t>last –</a:t>
            </a:r>
            <a:r>
              <a:rPr kumimoji="0" lang="en-US" sz="2000" b="0" i="0" u="none" strike="noStrike" cap="none" normalizeH="0" baseline="0" dirty="0" smtClean="0">
                <a:ln>
                  <a:noFill/>
                </a:ln>
                <a:solidFill>
                  <a:srgbClr val="222222"/>
                </a:solidFill>
                <a:effectLst/>
                <a:latin typeface="Inter-Regular"/>
              </a:rPr>
              <a:t> Drop duplicates except for the last occurrence.</a:t>
            </a:r>
            <a:br>
              <a:rPr kumimoji="0" lang="en-US" sz="2000" b="0" i="0" u="none" strike="noStrike" cap="none" normalizeH="0" baseline="0" dirty="0" smtClean="0">
                <a:ln>
                  <a:noFill/>
                </a:ln>
                <a:solidFill>
                  <a:srgbClr val="222222"/>
                </a:solidFill>
                <a:effectLst/>
                <a:latin typeface="Inter-Regular"/>
              </a:rPr>
            </a:br>
            <a:r>
              <a:rPr kumimoji="0" lang="en-US" sz="2000" b="1" i="0" u="none" strike="noStrike" cap="none" normalizeH="0" baseline="0" dirty="0" smtClean="0">
                <a:ln>
                  <a:noFill/>
                </a:ln>
                <a:solidFill>
                  <a:srgbClr val="222222"/>
                </a:solidFill>
                <a:effectLst/>
                <a:latin typeface="Inter-Regular"/>
              </a:rPr>
              <a:t>False</a:t>
            </a:r>
            <a:r>
              <a:rPr kumimoji="0" lang="en-US" sz="2000" b="0" i="0" u="none" strike="noStrike" cap="none" normalizeH="0" baseline="0" dirty="0" smtClean="0">
                <a:ln>
                  <a:noFill/>
                </a:ln>
                <a:solidFill>
                  <a:srgbClr val="222222"/>
                </a:solidFill>
                <a:effectLst/>
                <a:latin typeface="Inter-Regular"/>
              </a:rPr>
              <a:t> – Drop all duplicates.</a:t>
            </a:r>
          </a:p>
          <a:p>
            <a:pPr marL="0" marR="0" lvl="0" indent="0" defTabSz="914400" rtl="0" eaLnBrk="0" fontAlgn="base" latinLnBrk="0" hangingPunct="0">
              <a:lnSpc>
                <a:spcPct val="150000"/>
              </a:lnSpc>
              <a:spcBef>
                <a:spcPct val="0"/>
              </a:spcBef>
              <a:spcAft>
                <a:spcPct val="0"/>
              </a:spcAft>
              <a:buClrTx/>
              <a:buSzTx/>
              <a:buFontTx/>
              <a:buAutoNum type="arabicPeriod" startAt="3"/>
              <a:tabLst/>
            </a:pPr>
            <a:r>
              <a:rPr kumimoji="0" lang="en-US" sz="2000" b="1" i="0" u="none" strike="noStrike" cap="none" normalizeH="0" baseline="0" dirty="0" err="1" smtClean="0">
                <a:ln>
                  <a:noFill/>
                </a:ln>
                <a:solidFill>
                  <a:srgbClr val="6C0B24"/>
                </a:solidFill>
                <a:effectLst/>
                <a:latin typeface="Consolas" panose="020B0609020204030204" pitchFamily="49" charset="0"/>
              </a:rPr>
              <a:t>inplace</a:t>
            </a:r>
            <a:r>
              <a:rPr kumimoji="0" lang="en-US" sz="2000" b="1" i="0" u="none" strike="noStrike" cap="none" normalizeH="0" baseline="0" dirty="0" smtClean="0">
                <a:ln>
                  <a:noFill/>
                </a:ln>
                <a:solidFill>
                  <a:srgbClr val="222222"/>
                </a:solidFill>
                <a:effectLst/>
                <a:latin typeface="Inter-Regular"/>
              </a:rPr>
              <a:t>:</a:t>
            </a:r>
            <a:r>
              <a:rPr kumimoji="0" lang="en-US" sz="2000" b="0" i="0" u="none" strike="noStrike" cap="none" normalizeH="0" baseline="0" dirty="0" smtClean="0">
                <a:ln>
                  <a:noFill/>
                </a:ln>
                <a:solidFill>
                  <a:srgbClr val="222222"/>
                </a:solidFill>
                <a:effectLst/>
                <a:latin typeface="Inter-Regular"/>
              </a:rPr>
              <a:t> It is used to specify whether to return a new </a:t>
            </a:r>
            <a:r>
              <a:rPr kumimoji="0" lang="en-US" sz="2000" b="0" i="0" u="none" strike="noStrike" cap="none" normalizeH="0" baseline="0" dirty="0" err="1" smtClean="0">
                <a:ln>
                  <a:noFill/>
                </a:ln>
                <a:solidFill>
                  <a:srgbClr val="222222"/>
                </a:solidFill>
                <a:effectLst/>
                <a:latin typeface="Inter-Regular"/>
              </a:rPr>
              <a:t>DataFrame</a:t>
            </a:r>
            <a:r>
              <a:rPr kumimoji="0" lang="en-US" sz="2000" b="0" i="0" u="none" strike="noStrike" cap="none" normalizeH="0" baseline="0" dirty="0" smtClean="0">
                <a:ln>
                  <a:noFill/>
                </a:ln>
                <a:solidFill>
                  <a:srgbClr val="222222"/>
                </a:solidFill>
                <a:effectLst/>
                <a:latin typeface="Inter-Regular"/>
              </a:rPr>
              <a:t> or update an existing one. It is a </a:t>
            </a:r>
            <a:r>
              <a:rPr kumimoji="0" lang="en-US" sz="2000" b="0" i="0" u="none" strike="noStrike" cap="none" normalizeH="0" baseline="0" dirty="0" err="1" smtClean="0">
                <a:ln>
                  <a:noFill/>
                </a:ln>
                <a:solidFill>
                  <a:srgbClr val="222222"/>
                </a:solidFill>
                <a:effectLst/>
                <a:latin typeface="Inter-Regular"/>
              </a:rPr>
              <a:t>boolean</a:t>
            </a:r>
            <a:r>
              <a:rPr kumimoji="0" lang="en-US" sz="2000" b="0" i="0" u="none" strike="noStrike" cap="none" normalizeH="0" baseline="0" dirty="0" smtClean="0">
                <a:ln>
                  <a:noFill/>
                </a:ln>
                <a:solidFill>
                  <a:srgbClr val="222222"/>
                </a:solidFill>
                <a:effectLst/>
                <a:latin typeface="Inter-Regular"/>
              </a:rPr>
              <a:t> flag with default False.</a:t>
            </a:r>
          </a:p>
          <a:p>
            <a:pPr marL="0" marR="0" lvl="0" indent="0" defTabSz="914400" rtl="0" eaLnBrk="0" fontAlgn="base" latinLnBrk="0" hangingPunct="0">
              <a:lnSpc>
                <a:spcPct val="150000"/>
              </a:lnSpc>
              <a:spcBef>
                <a:spcPct val="0"/>
              </a:spcBef>
              <a:spcAft>
                <a:spcPct val="0"/>
              </a:spcAft>
              <a:buClrTx/>
              <a:buSzTx/>
              <a:buFontTx/>
              <a:buAutoNum type="arabicPeriod" startAt="4"/>
              <a:tabLst/>
            </a:pPr>
            <a:r>
              <a:rPr kumimoji="0" lang="en-US" sz="2000" b="1" i="0" u="none" strike="noStrike" cap="none" normalizeH="0" baseline="0" dirty="0" err="1" smtClean="0">
                <a:ln>
                  <a:noFill/>
                </a:ln>
                <a:solidFill>
                  <a:srgbClr val="6C0B24"/>
                </a:solidFill>
                <a:effectLst/>
                <a:latin typeface="Consolas" panose="020B0609020204030204" pitchFamily="49" charset="0"/>
              </a:rPr>
              <a:t>ignore_index</a:t>
            </a:r>
            <a:r>
              <a:rPr kumimoji="0" lang="en-US" sz="2000" b="1" i="0" u="none" strike="noStrike" cap="none" normalizeH="0" baseline="0" dirty="0" smtClean="0">
                <a:ln>
                  <a:noFill/>
                </a:ln>
                <a:solidFill>
                  <a:srgbClr val="222222"/>
                </a:solidFill>
                <a:effectLst/>
                <a:latin typeface="Inter-Regular"/>
              </a:rPr>
              <a:t>:</a:t>
            </a:r>
            <a:r>
              <a:rPr kumimoji="0" lang="en-US" sz="2000" b="0" i="0" u="none" strike="noStrike" cap="none" normalizeH="0" baseline="0" dirty="0" smtClean="0">
                <a:ln>
                  <a:noFill/>
                </a:ln>
                <a:solidFill>
                  <a:srgbClr val="222222"/>
                </a:solidFill>
                <a:effectLst/>
                <a:latin typeface="Inter-Regular"/>
              </a:rPr>
              <a:t> It is a </a:t>
            </a:r>
            <a:r>
              <a:rPr kumimoji="0" lang="en-US" sz="2000" b="0" i="0" u="none" strike="noStrike" cap="none" normalizeH="0" baseline="0" dirty="0" err="1" smtClean="0">
                <a:ln>
                  <a:noFill/>
                </a:ln>
                <a:solidFill>
                  <a:srgbClr val="222222"/>
                </a:solidFill>
                <a:effectLst/>
                <a:latin typeface="Inter-Regular"/>
              </a:rPr>
              <a:t>boolean</a:t>
            </a:r>
            <a:r>
              <a:rPr kumimoji="0" lang="en-US" sz="2000" b="0" i="0" u="none" strike="noStrike" cap="none" normalizeH="0" baseline="0" dirty="0" smtClean="0">
                <a:ln>
                  <a:noFill/>
                </a:ln>
                <a:solidFill>
                  <a:srgbClr val="222222"/>
                </a:solidFill>
                <a:effectLst/>
                <a:latin typeface="Inter-Regular"/>
              </a:rPr>
              <a:t> flag to indicate if row index should be reset after dropping duplicate rows. </a:t>
            </a:r>
            <a:r>
              <a:rPr kumimoji="0" lang="en-US" sz="2000" b="1" i="0" u="none" strike="noStrike" cap="none" normalizeH="0" baseline="0" dirty="0" smtClean="0">
                <a:ln>
                  <a:noFill/>
                </a:ln>
                <a:solidFill>
                  <a:srgbClr val="222222"/>
                </a:solidFill>
                <a:effectLst/>
                <a:latin typeface="Inter-Regular"/>
              </a:rPr>
              <a:t>False</a:t>
            </a:r>
            <a:r>
              <a:rPr kumimoji="0" lang="en-US" sz="2000" b="0" i="0" u="none" strike="noStrike" cap="none" normalizeH="0" baseline="0" dirty="0" smtClean="0">
                <a:ln>
                  <a:noFill/>
                </a:ln>
                <a:solidFill>
                  <a:srgbClr val="222222"/>
                </a:solidFill>
                <a:effectLst/>
                <a:latin typeface="Inter-Regular"/>
              </a:rPr>
              <a:t>: It keeps the original row index. </a:t>
            </a:r>
            <a:r>
              <a:rPr kumimoji="0" lang="en-US" sz="2000" b="1" i="0" u="none" strike="noStrike" cap="none" normalizeH="0" baseline="0" dirty="0" smtClean="0">
                <a:ln>
                  <a:noFill/>
                </a:ln>
                <a:solidFill>
                  <a:srgbClr val="222222"/>
                </a:solidFill>
                <a:effectLst/>
                <a:latin typeface="Inter-Regular"/>
              </a:rPr>
              <a:t>True</a:t>
            </a:r>
            <a:r>
              <a:rPr kumimoji="0" lang="en-US" sz="2000" b="0" i="0" u="none" strike="noStrike" cap="none" normalizeH="0" baseline="0" dirty="0" smtClean="0">
                <a:ln>
                  <a:noFill/>
                </a:ln>
                <a:solidFill>
                  <a:srgbClr val="222222"/>
                </a:solidFill>
                <a:effectLst/>
                <a:latin typeface="Inter-Regular"/>
              </a:rPr>
              <a:t>: It reset the index, and the resulting rows will be labeled 0, 1, …, n – 1.</a:t>
            </a:r>
            <a:endParaRPr kumimoji="0" lang="en-US" sz="2000" b="0" i="0" u="none" strike="noStrike" cap="none" normalizeH="0" baseline="0" dirty="0" smtClean="0">
              <a:ln>
                <a:noFill/>
              </a:ln>
              <a:solidFill>
                <a:schemeClr val="tx1"/>
              </a:solidFill>
              <a:effectLst/>
            </a:endParaRPr>
          </a:p>
        </p:txBody>
      </p:sp>
    </p:spTree>
    <p:extLst>
      <p:ext uri="{BB962C8B-B14F-4D97-AF65-F5344CB8AC3E}">
        <p14:creationId xmlns:p14="http://schemas.microsoft.com/office/powerpoint/2010/main" xmlns="" val="146156864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126608" y="123468"/>
            <a:ext cx="11746523" cy="3266763"/>
          </a:xfrm>
          <a:prstGeom prst="rect">
            <a:avLst/>
          </a:prstGeom>
          <a:solidFill>
            <a:srgbClr val="F9F2F4"/>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0" tIns="268203" rIns="0" bIns="223767"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rtl="0" eaLnBrk="0" fontAlgn="base" latinLnBrk="0" hangingPunct="0">
              <a:lnSpc>
                <a:spcPct val="150000"/>
              </a:lnSpc>
              <a:spcBef>
                <a:spcPct val="0"/>
              </a:spcBef>
              <a:spcAft>
                <a:spcPct val="0"/>
              </a:spcAft>
              <a:buClrTx/>
              <a:buSzTx/>
              <a:buFontTx/>
              <a:buNone/>
              <a:tabLst/>
            </a:pPr>
            <a:r>
              <a:rPr kumimoji="0" lang="en-US" sz="2000" b="1" i="0" u="none" strike="noStrike" cap="none" normalizeH="0" baseline="0" dirty="0" smtClean="0">
                <a:ln>
                  <a:noFill/>
                </a:ln>
                <a:solidFill>
                  <a:srgbClr val="1C2B41"/>
                </a:solidFill>
                <a:effectLst/>
                <a:latin typeface="Inter-Bold"/>
              </a:rPr>
              <a:t>Drop duplicates but keep first</a:t>
            </a:r>
          </a:p>
          <a:p>
            <a:pPr marL="0" marR="0" lvl="0" indent="0" defTabSz="914400" rtl="0" eaLnBrk="0" fontAlgn="base" latinLnBrk="0" hangingPunct="0">
              <a:lnSpc>
                <a:spcPct val="150000"/>
              </a:lnSpc>
              <a:spcBef>
                <a:spcPct val="0"/>
              </a:spcBef>
              <a:spcAft>
                <a:spcPct val="0"/>
              </a:spcAft>
              <a:buClrTx/>
              <a:buSzTx/>
              <a:buFontTx/>
              <a:buNone/>
              <a:tabLst/>
            </a:pPr>
            <a:r>
              <a:rPr kumimoji="0" lang="en-US" sz="2000" b="0" i="0" u="none" strike="noStrike" cap="none" normalizeH="0" baseline="0" dirty="0" smtClean="0">
                <a:ln>
                  <a:noFill/>
                </a:ln>
                <a:solidFill>
                  <a:srgbClr val="222222"/>
                </a:solidFill>
                <a:effectLst/>
                <a:latin typeface="Inter-Regular"/>
              </a:rPr>
              <a:t>When we have the </a:t>
            </a:r>
            <a:r>
              <a:rPr kumimoji="0" lang="en-US" sz="2000" b="0" i="0" u="none" strike="noStrike" cap="none" normalizeH="0" baseline="0" dirty="0" err="1" smtClean="0">
                <a:ln>
                  <a:noFill/>
                </a:ln>
                <a:solidFill>
                  <a:srgbClr val="222222"/>
                </a:solidFill>
                <a:effectLst/>
                <a:latin typeface="Inter-Regular"/>
              </a:rPr>
              <a:t>DataFrame</a:t>
            </a:r>
            <a:r>
              <a:rPr kumimoji="0" lang="en-US" sz="2000" b="0" i="0" u="none" strike="noStrike" cap="none" normalizeH="0" baseline="0" dirty="0" smtClean="0">
                <a:ln>
                  <a:noFill/>
                </a:ln>
                <a:solidFill>
                  <a:srgbClr val="222222"/>
                </a:solidFill>
                <a:effectLst/>
                <a:latin typeface="Inter-Regular"/>
              </a:rPr>
              <a:t> with many duplicate rows that we want to remove we use </a:t>
            </a:r>
            <a:r>
              <a:rPr kumimoji="0" lang="en-US" sz="2000" b="0" i="0" u="none" strike="noStrike" cap="none" normalizeH="0" baseline="0" dirty="0" err="1" smtClean="0">
                <a:ln>
                  <a:noFill/>
                </a:ln>
                <a:solidFill>
                  <a:srgbClr val="6C0B24"/>
                </a:solidFill>
                <a:effectLst/>
                <a:latin typeface="Consolas" panose="020B0609020204030204" pitchFamily="49" charset="0"/>
              </a:rPr>
              <a:t>DataFrame.drop_duplicates</a:t>
            </a:r>
            <a:r>
              <a:rPr kumimoji="0" lang="en-US" sz="2000" b="0" i="0" u="none" strike="noStrike" cap="none" normalizeH="0" baseline="0" dirty="0" smtClean="0">
                <a:ln>
                  <a:noFill/>
                </a:ln>
                <a:solidFill>
                  <a:srgbClr val="6C0B24"/>
                </a:solidFill>
                <a:effectLst/>
                <a:latin typeface="Consolas" panose="020B0609020204030204" pitchFamily="49" charset="0"/>
              </a:rPr>
              <a:t>()</a:t>
            </a:r>
            <a:r>
              <a:rPr kumimoji="0" lang="en-US" sz="2000" b="0" i="0" u="none" strike="noStrike" cap="none" normalizeH="0" baseline="0" dirty="0" smtClean="0">
                <a:ln>
                  <a:noFill/>
                </a:ln>
                <a:solidFill>
                  <a:srgbClr val="222222"/>
                </a:solidFill>
                <a:effectLst/>
                <a:latin typeface="Inter-Regular"/>
              </a:rPr>
              <a:t>.</a:t>
            </a:r>
            <a:endParaRPr kumimoji="0" lang="en-US" sz="2000" b="0" i="0" u="none" strike="noStrike" cap="none" normalizeH="0" baseline="0" dirty="0" smtClean="0">
              <a:ln>
                <a:noFill/>
              </a:ln>
              <a:solidFill>
                <a:schemeClr val="tx1"/>
              </a:solidFill>
              <a:effectLst/>
            </a:endParaRPr>
          </a:p>
          <a:p>
            <a:pPr marL="0" marR="0" lvl="0" indent="0" defTabSz="914400" rtl="0" eaLnBrk="0" fontAlgn="base" latinLnBrk="0" hangingPunct="0">
              <a:lnSpc>
                <a:spcPct val="150000"/>
              </a:lnSpc>
              <a:spcBef>
                <a:spcPct val="0"/>
              </a:spcBef>
              <a:spcAft>
                <a:spcPct val="0"/>
              </a:spcAft>
              <a:buClrTx/>
              <a:buSzTx/>
              <a:buFontTx/>
              <a:buNone/>
              <a:tabLst/>
            </a:pPr>
            <a:r>
              <a:rPr kumimoji="0" lang="en-US" sz="2000" b="0" i="0" u="none" strike="noStrike" cap="none" normalizeH="0" baseline="0" dirty="0" smtClean="0">
                <a:ln>
                  <a:noFill/>
                </a:ln>
                <a:solidFill>
                  <a:srgbClr val="222222"/>
                </a:solidFill>
                <a:effectLst/>
                <a:latin typeface="Inter-Regular"/>
              </a:rPr>
              <a:t>The rows that contain the same values in all the columns then are identified as duplicates. If the row is duplicated then by default </a:t>
            </a:r>
            <a:r>
              <a:rPr kumimoji="0" lang="en-US" sz="2000" b="0" i="0" u="none" strike="noStrike" cap="none" normalizeH="0" baseline="0" dirty="0" err="1" smtClean="0">
                <a:ln>
                  <a:noFill/>
                </a:ln>
                <a:solidFill>
                  <a:srgbClr val="6C0B24"/>
                </a:solidFill>
                <a:effectLst/>
                <a:latin typeface="Consolas" panose="020B0609020204030204" pitchFamily="49" charset="0"/>
              </a:rPr>
              <a:t>DataFrame.drop_duplicates</a:t>
            </a:r>
            <a:r>
              <a:rPr kumimoji="0" lang="en-US" sz="2000" b="0" i="0" u="none" strike="noStrike" cap="none" normalizeH="0" baseline="0" dirty="0" smtClean="0">
                <a:ln>
                  <a:noFill/>
                </a:ln>
                <a:solidFill>
                  <a:srgbClr val="6C0B24"/>
                </a:solidFill>
                <a:effectLst/>
                <a:latin typeface="Consolas" panose="020B0609020204030204" pitchFamily="49" charset="0"/>
              </a:rPr>
              <a:t>()</a:t>
            </a:r>
            <a:r>
              <a:rPr kumimoji="0" lang="en-US" sz="2000" b="0" i="0" u="none" strike="noStrike" cap="none" normalizeH="0" baseline="0" dirty="0" smtClean="0">
                <a:ln>
                  <a:noFill/>
                </a:ln>
                <a:solidFill>
                  <a:srgbClr val="222222"/>
                </a:solidFill>
                <a:effectLst/>
                <a:latin typeface="Inter-Regular"/>
              </a:rPr>
              <a:t> keeps the first occurrence of that row and drops all other duplicates of it.</a:t>
            </a:r>
            <a:endParaRPr kumimoji="0" lang="en-US" sz="2000" b="0" i="0" u="none" strike="noStrike" cap="none" normalizeH="0" baseline="0" dirty="0" smtClean="0">
              <a:ln>
                <a:noFill/>
              </a:ln>
              <a:solidFill>
                <a:schemeClr val="tx1"/>
              </a:solidFill>
              <a:effectLst/>
            </a:endParaRPr>
          </a:p>
        </p:txBody>
      </p:sp>
      <p:sp>
        <p:nvSpPr>
          <p:cNvPr id="3" name="Rectangle 2"/>
          <p:cNvSpPr>
            <a:spLocks noChangeArrowheads="1"/>
          </p:cNvSpPr>
          <p:nvPr/>
        </p:nvSpPr>
        <p:spPr bwMode="auto">
          <a:xfrm>
            <a:off x="126609" y="3848585"/>
            <a:ext cx="11746523" cy="2748096"/>
          </a:xfrm>
          <a:prstGeom prst="rect">
            <a:avLst/>
          </a:prstGeom>
          <a:solidFill>
            <a:srgbClr val="F9F2F4"/>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0" tIns="268203" rIns="0" bIns="223767"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sz="2000" b="1" i="0" u="none" strike="noStrike" cap="none" normalizeH="0" baseline="0" dirty="0" smtClean="0">
                <a:ln>
                  <a:noFill/>
                </a:ln>
                <a:solidFill>
                  <a:srgbClr val="1C2B41"/>
                </a:solidFill>
                <a:effectLst/>
                <a:latin typeface="Inter-Bold"/>
              </a:rPr>
              <a:t>Drop duplicates from defined columns</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sz="2000" b="0" i="0" u="none" strike="noStrike" cap="none" normalizeH="0" baseline="0" dirty="0" smtClean="0">
                <a:ln>
                  <a:noFill/>
                </a:ln>
                <a:solidFill>
                  <a:srgbClr val="222222"/>
                </a:solidFill>
                <a:effectLst/>
                <a:latin typeface="Inter-Regular"/>
              </a:rPr>
              <a:t>By default, </a:t>
            </a:r>
            <a:r>
              <a:rPr kumimoji="0" lang="en-US" sz="2000" b="0" i="0" u="none" strike="noStrike" cap="none" normalizeH="0" baseline="0" dirty="0" err="1" smtClean="0">
                <a:ln>
                  <a:noFill/>
                </a:ln>
                <a:solidFill>
                  <a:srgbClr val="6C0B24"/>
                </a:solidFill>
                <a:effectLst/>
                <a:latin typeface="Consolas" panose="020B0609020204030204" pitchFamily="49" charset="0"/>
              </a:rPr>
              <a:t>DataFrame.drop_duplicate</a:t>
            </a:r>
            <a:r>
              <a:rPr kumimoji="0" lang="en-US" sz="2000" b="0" i="0" u="none" strike="noStrike" cap="none" normalizeH="0" baseline="0" dirty="0" smtClean="0">
                <a:ln>
                  <a:noFill/>
                </a:ln>
                <a:solidFill>
                  <a:srgbClr val="6C0B24"/>
                </a:solidFill>
                <a:effectLst/>
                <a:latin typeface="Consolas" panose="020B0609020204030204" pitchFamily="49" charset="0"/>
              </a:rPr>
              <a:t>()</a:t>
            </a:r>
            <a:r>
              <a:rPr kumimoji="0" lang="en-US" sz="2000" b="0" i="0" u="none" strike="noStrike" cap="none" normalizeH="0" baseline="0" dirty="0" smtClean="0">
                <a:ln>
                  <a:noFill/>
                </a:ln>
                <a:solidFill>
                  <a:srgbClr val="222222"/>
                </a:solidFill>
                <a:effectLst/>
                <a:latin typeface="Inter-Regular"/>
              </a:rPr>
              <a:t> removes rows with the same values in all the columns. But, we can modify this behavior using a </a:t>
            </a:r>
            <a:r>
              <a:rPr kumimoji="0" lang="en-US" sz="2000" b="0" i="0" u="none" strike="noStrike" cap="none" normalizeH="0" baseline="0" dirty="0" smtClean="0">
                <a:ln>
                  <a:noFill/>
                </a:ln>
                <a:solidFill>
                  <a:srgbClr val="6C0B24"/>
                </a:solidFill>
                <a:effectLst/>
                <a:latin typeface="Consolas" panose="020B0609020204030204" pitchFamily="49" charset="0"/>
              </a:rPr>
              <a:t>subset</a:t>
            </a:r>
            <a:r>
              <a:rPr kumimoji="0" lang="en-US" sz="2000" b="0" i="0" u="none" strike="noStrike" cap="none" normalizeH="0" baseline="0" dirty="0" smtClean="0">
                <a:ln>
                  <a:noFill/>
                </a:ln>
                <a:solidFill>
                  <a:srgbClr val="222222"/>
                </a:solidFill>
                <a:effectLst/>
                <a:latin typeface="Inter-Regular"/>
              </a:rPr>
              <a:t> parameter.</a:t>
            </a:r>
            <a:endParaRPr kumimoji="0" lang="en-US" sz="20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US" sz="2000" b="0" i="0" u="none" strike="noStrike" cap="none" normalizeH="0" baseline="0" dirty="0" smtClean="0">
                <a:ln>
                  <a:noFill/>
                </a:ln>
                <a:solidFill>
                  <a:srgbClr val="222222"/>
                </a:solidFill>
                <a:effectLst/>
                <a:latin typeface="Inter-Regular"/>
              </a:rPr>
              <a:t>For example, </a:t>
            </a:r>
            <a:r>
              <a:rPr kumimoji="0" lang="en-US" sz="2000" b="0" i="0" u="none" strike="noStrike" cap="none" normalizeH="0" baseline="0" dirty="0" smtClean="0">
                <a:ln>
                  <a:noFill/>
                </a:ln>
                <a:solidFill>
                  <a:srgbClr val="6C0B24"/>
                </a:solidFill>
                <a:effectLst/>
                <a:latin typeface="Consolas" panose="020B0609020204030204" pitchFamily="49" charset="0"/>
              </a:rPr>
              <a:t>subset=[col1, col2]</a:t>
            </a:r>
            <a:r>
              <a:rPr kumimoji="0" lang="en-US" sz="2000" b="0" i="0" u="none" strike="noStrike" cap="none" normalizeH="0" baseline="0" dirty="0" smtClean="0">
                <a:ln>
                  <a:noFill/>
                </a:ln>
                <a:solidFill>
                  <a:srgbClr val="222222"/>
                </a:solidFill>
                <a:effectLst/>
                <a:latin typeface="Inter-Regular"/>
              </a:rPr>
              <a:t> will remove the duplicate rows with the same values in specified columns only, i.e., col1 and col2.</a:t>
            </a:r>
            <a:endParaRPr kumimoji="0" lang="en-US" sz="2000" b="0" i="0" u="none" strike="noStrike" cap="none" normalizeH="0" baseline="0" dirty="0" smtClean="0">
              <a:ln>
                <a:noFill/>
              </a:ln>
              <a:solidFill>
                <a:schemeClr val="tx1"/>
              </a:solidFill>
              <a:effectLst/>
            </a:endParaRPr>
          </a:p>
        </p:txBody>
      </p:sp>
    </p:spTree>
    <p:extLst>
      <p:ext uri="{BB962C8B-B14F-4D97-AF65-F5344CB8AC3E}">
        <p14:creationId xmlns:p14="http://schemas.microsoft.com/office/powerpoint/2010/main" xmlns="" val="336881216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182880" y="16670"/>
            <a:ext cx="11732455" cy="1881990"/>
          </a:xfrm>
          <a:prstGeom prst="rect">
            <a:avLst/>
          </a:prstGeom>
          <a:solidFill>
            <a:srgbClr val="FEFEFE"/>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50000"/>
              </a:lnSpc>
              <a:spcBef>
                <a:spcPct val="0"/>
              </a:spcBef>
              <a:spcAft>
                <a:spcPct val="0"/>
              </a:spcAft>
              <a:buClrTx/>
              <a:buSzTx/>
              <a:buFontTx/>
              <a:buNone/>
              <a:tabLst/>
            </a:pPr>
            <a:r>
              <a:rPr kumimoji="0" lang="en-US" sz="2000" b="1" i="0" u="none" strike="noStrike" cap="none" normalizeH="0" baseline="0" dirty="0" smtClean="0">
                <a:ln>
                  <a:noFill/>
                </a:ln>
                <a:solidFill>
                  <a:srgbClr val="222222"/>
                </a:solidFill>
                <a:effectLst/>
                <a:latin typeface="Inter-Regular"/>
              </a:rPr>
              <a:t>Example</a:t>
            </a:r>
            <a:endParaRPr kumimoji="0" lang="en-US" sz="2000" b="0" i="0" u="none" strike="noStrike" cap="none" normalizeH="0" baseline="0" dirty="0" smtClean="0">
              <a:ln>
                <a:noFill/>
              </a:ln>
              <a:solidFill>
                <a:schemeClr val="tx1"/>
              </a:solidFill>
              <a:effectLst/>
            </a:endParaRP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sz="2000" b="0" i="0" u="none" strike="noStrike" cap="none" normalizeH="0" baseline="0" dirty="0" smtClean="0">
                <a:ln>
                  <a:noFill/>
                </a:ln>
                <a:solidFill>
                  <a:srgbClr val="222222"/>
                </a:solidFill>
                <a:effectLst/>
                <a:latin typeface="Inter-Regular"/>
              </a:rPr>
              <a:t>In the below example, rows for ‘Nat’ and ‘Sam’ are removed even though their names are different because only ‘</a:t>
            </a:r>
            <a:r>
              <a:rPr kumimoji="0" lang="en-US" sz="2000" b="1" i="0" u="none" strike="noStrike" cap="none" normalizeH="0" baseline="0" dirty="0" smtClean="0">
                <a:ln>
                  <a:noFill/>
                </a:ln>
                <a:solidFill>
                  <a:srgbClr val="222222"/>
                </a:solidFill>
                <a:effectLst/>
                <a:latin typeface="Inter-Regular"/>
              </a:rPr>
              <a:t>age</a:t>
            </a:r>
            <a:r>
              <a:rPr kumimoji="0" lang="en-US" sz="2000" b="0" i="0" u="none" strike="noStrike" cap="none" normalizeH="0" baseline="0" dirty="0" smtClean="0">
                <a:ln>
                  <a:noFill/>
                </a:ln>
                <a:solidFill>
                  <a:srgbClr val="222222"/>
                </a:solidFill>
                <a:effectLst/>
                <a:latin typeface="Inter-Regular"/>
              </a:rPr>
              <a:t>‘ and ‘</a:t>
            </a:r>
            <a:r>
              <a:rPr kumimoji="0" lang="en-US" sz="2000" b="1" i="0" u="none" strike="noStrike" cap="none" normalizeH="0" baseline="0" dirty="0" smtClean="0">
                <a:ln>
                  <a:noFill/>
                </a:ln>
                <a:solidFill>
                  <a:srgbClr val="222222"/>
                </a:solidFill>
                <a:effectLst/>
                <a:latin typeface="Inter-Regular"/>
              </a:rPr>
              <a:t>marks</a:t>
            </a:r>
            <a:r>
              <a:rPr kumimoji="0" lang="en-US" sz="2000" b="0" i="0" u="none" strike="noStrike" cap="none" normalizeH="0" baseline="0" dirty="0" smtClean="0">
                <a:ln>
                  <a:noFill/>
                </a:ln>
                <a:solidFill>
                  <a:srgbClr val="222222"/>
                </a:solidFill>
                <a:effectLst/>
                <a:latin typeface="Inter-Regular"/>
              </a:rPr>
              <a:t>‘ columns are considered to check for duplicates.</a:t>
            </a:r>
            <a:endParaRPr kumimoji="0" lang="en-US" sz="2000" b="0" i="0" u="none" strike="noStrike" cap="none" normalizeH="0" baseline="0" dirty="0" smtClean="0">
              <a:ln>
                <a:noFill/>
              </a:ln>
              <a:solidFill>
                <a:schemeClr val="tx1"/>
              </a:solidFill>
              <a:effectLst/>
            </a:endParaRP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sz="2000" b="0" i="0" u="none" strike="noStrike" cap="none" normalizeH="0" baseline="0" dirty="0" smtClean="0">
                <a:ln>
                  <a:noFill/>
                </a:ln>
                <a:solidFill>
                  <a:srgbClr val="222222"/>
                </a:solidFill>
                <a:effectLst/>
                <a:latin typeface="Inter-Regular"/>
              </a:rPr>
              <a:t>  </a:t>
            </a:r>
          </a:p>
        </p:txBody>
      </p:sp>
      <p:pic>
        <p:nvPicPr>
          <p:cNvPr id="3074" name="Picture 2" descr="Drop Duplicate From Specified Columns"/>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3227363" y="1969160"/>
            <a:ext cx="4692748" cy="4113166"/>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23451895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0" y="761191"/>
            <a:ext cx="11955439" cy="3412736"/>
          </a:xfrm>
          <a:prstGeom prst="rect">
            <a:avLst/>
          </a:prstGeom>
          <a:solidFill>
            <a:srgbClr val="FEFEFE"/>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357075" tIns="0" rIns="0" bIns="179331"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50000"/>
              </a:lnSpc>
              <a:spcBef>
                <a:spcPct val="0"/>
              </a:spcBef>
              <a:spcAft>
                <a:spcPct val="0"/>
              </a:spcAft>
              <a:buClrTx/>
              <a:buSzTx/>
              <a:buFontTx/>
              <a:buNone/>
              <a:tabLst/>
            </a:pPr>
            <a:r>
              <a:rPr kumimoji="0" lang="en-US" sz="2000" b="1" i="0" u="none" strike="noStrike" cap="none" normalizeH="0" baseline="0" dirty="0" smtClean="0">
                <a:ln>
                  <a:noFill/>
                </a:ln>
                <a:solidFill>
                  <a:srgbClr val="1C2B41"/>
                </a:solidFill>
                <a:effectLst/>
                <a:latin typeface="Inter-Bold"/>
              </a:rPr>
              <a:t>Drop duplicates but keep last</a:t>
            </a: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sz="2000" b="0" i="0" u="none" strike="noStrike" cap="none" normalizeH="0" baseline="0" dirty="0" smtClean="0">
                <a:ln>
                  <a:noFill/>
                </a:ln>
                <a:solidFill>
                  <a:srgbClr val="222222"/>
                </a:solidFill>
                <a:effectLst/>
                <a:latin typeface="Inter-Regular"/>
              </a:rPr>
              <a:t>Let’s consider the case where we have a row that is duplicated multiple times in the </a:t>
            </a:r>
            <a:r>
              <a:rPr kumimoji="0" lang="en-US" sz="2000" b="0" i="0" u="none" strike="noStrike" cap="none" normalizeH="0" baseline="0" dirty="0" err="1" smtClean="0">
                <a:ln>
                  <a:noFill/>
                </a:ln>
                <a:solidFill>
                  <a:srgbClr val="222222"/>
                </a:solidFill>
                <a:effectLst/>
                <a:latin typeface="Inter-Regular"/>
              </a:rPr>
              <a:t>DataSet</a:t>
            </a:r>
            <a:r>
              <a:rPr kumimoji="0" lang="en-US" sz="2000" b="0" i="0" u="none" strike="noStrike" cap="none" normalizeH="0" baseline="0" dirty="0" smtClean="0">
                <a:ln>
                  <a:noFill/>
                </a:ln>
                <a:solidFill>
                  <a:srgbClr val="222222"/>
                </a:solidFill>
                <a:effectLst/>
                <a:latin typeface="Inter-Regular"/>
              </a:rPr>
              <a:t>. In such a case, To keep only one occurrence of the duplicate row, we can use the </a:t>
            </a:r>
            <a:r>
              <a:rPr kumimoji="0" lang="en-US" sz="2000" b="0" i="0" u="none" strike="noStrike" cap="none" normalizeH="0" baseline="0" dirty="0" smtClean="0">
                <a:ln>
                  <a:noFill/>
                </a:ln>
                <a:solidFill>
                  <a:srgbClr val="6C0B24"/>
                </a:solidFill>
                <a:effectLst/>
                <a:latin typeface="Consolas" panose="020B0609020204030204" pitchFamily="49" charset="0"/>
              </a:rPr>
              <a:t>keep</a:t>
            </a:r>
            <a:r>
              <a:rPr kumimoji="0" lang="en-US" sz="2000" b="0" i="0" u="none" strike="noStrike" cap="none" normalizeH="0" baseline="0" dirty="0" smtClean="0">
                <a:ln>
                  <a:noFill/>
                </a:ln>
                <a:solidFill>
                  <a:srgbClr val="222222"/>
                </a:solidFill>
                <a:effectLst/>
                <a:latin typeface="Inter-Regular"/>
              </a:rPr>
              <a:t> parameter of a </a:t>
            </a:r>
            <a:r>
              <a:rPr kumimoji="0" lang="en-US" sz="2000" b="0" i="0" u="none" strike="noStrike" cap="none" normalizeH="0" baseline="0" dirty="0" err="1" smtClean="0">
                <a:ln>
                  <a:noFill/>
                </a:ln>
                <a:solidFill>
                  <a:srgbClr val="6C0B24"/>
                </a:solidFill>
                <a:effectLst/>
                <a:latin typeface="Consolas" panose="020B0609020204030204" pitchFamily="49" charset="0"/>
              </a:rPr>
              <a:t>DataFrame.drop_duplicate</a:t>
            </a:r>
            <a:r>
              <a:rPr kumimoji="0" lang="en-US" sz="2000" b="0" i="0" u="none" strike="noStrike" cap="none" normalizeH="0" baseline="0" dirty="0" smtClean="0">
                <a:ln>
                  <a:noFill/>
                </a:ln>
                <a:solidFill>
                  <a:srgbClr val="6C0B24"/>
                </a:solidFill>
                <a:effectLst/>
                <a:latin typeface="Consolas" panose="020B0609020204030204" pitchFamily="49" charset="0"/>
              </a:rPr>
              <a:t>()</a:t>
            </a:r>
            <a:r>
              <a:rPr kumimoji="0" lang="en-US" sz="2000" b="0" i="0" u="none" strike="noStrike" cap="none" normalizeH="0" baseline="0" dirty="0" smtClean="0">
                <a:ln>
                  <a:noFill/>
                </a:ln>
                <a:solidFill>
                  <a:srgbClr val="222222"/>
                </a:solidFill>
                <a:effectLst/>
                <a:latin typeface="Inter-Regular"/>
              </a:rPr>
              <a:t>, which takes the following inputs:</a:t>
            </a:r>
            <a:endParaRPr kumimoji="0" lang="en-US" sz="2000" b="0" i="0" u="none" strike="noStrike" cap="none" normalizeH="0" baseline="0" dirty="0" smtClean="0">
              <a:ln>
                <a:noFill/>
              </a:ln>
              <a:solidFill>
                <a:schemeClr val="tx1"/>
              </a:solidFill>
              <a:effectLst/>
            </a:endParaRP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sz="2000" b="1" i="0" u="none" strike="noStrike" cap="none" normalizeH="0" baseline="0" dirty="0" smtClean="0">
                <a:ln>
                  <a:noFill/>
                </a:ln>
                <a:solidFill>
                  <a:srgbClr val="222222"/>
                </a:solidFill>
                <a:effectLst/>
                <a:latin typeface="Inter-Regular"/>
              </a:rPr>
              <a:t>first</a:t>
            </a:r>
            <a:r>
              <a:rPr kumimoji="0" lang="en-US" sz="2000" b="0" i="0" u="none" strike="noStrike" cap="none" normalizeH="0" baseline="0" dirty="0" smtClean="0">
                <a:ln>
                  <a:noFill/>
                </a:ln>
                <a:solidFill>
                  <a:srgbClr val="222222"/>
                </a:solidFill>
                <a:effectLst/>
                <a:latin typeface="Inter-Regular"/>
              </a:rPr>
              <a:t> – Drop duplicates except for the first occurrence of the duplicate row. This is the default behavior.</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sz="2000" b="1" i="0" u="none" strike="noStrike" cap="none" normalizeH="0" baseline="0" dirty="0" smtClean="0">
                <a:ln>
                  <a:noFill/>
                </a:ln>
                <a:solidFill>
                  <a:srgbClr val="222222"/>
                </a:solidFill>
                <a:effectLst/>
                <a:latin typeface="Inter-Regular"/>
              </a:rPr>
              <a:t>last</a:t>
            </a:r>
            <a:r>
              <a:rPr kumimoji="0" lang="en-US" sz="2000" b="0" i="0" u="none" strike="noStrike" cap="none" normalizeH="0" baseline="0" dirty="0" smtClean="0">
                <a:ln>
                  <a:noFill/>
                </a:ln>
                <a:solidFill>
                  <a:srgbClr val="222222"/>
                </a:solidFill>
                <a:effectLst/>
                <a:latin typeface="Inter-Regular"/>
              </a:rPr>
              <a:t> – Drop duplicates except for the last occurrence of the duplicate row.</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sz="2000" b="1" i="0" u="none" strike="noStrike" cap="none" normalizeH="0" baseline="0" dirty="0" smtClean="0">
                <a:ln>
                  <a:noFill/>
                </a:ln>
                <a:solidFill>
                  <a:srgbClr val="222222"/>
                </a:solidFill>
                <a:effectLst/>
                <a:latin typeface="Inter-Regular"/>
              </a:rPr>
              <a:t>False</a:t>
            </a:r>
            <a:r>
              <a:rPr kumimoji="0" lang="en-US" sz="2000" b="0" i="0" u="none" strike="noStrike" cap="none" normalizeH="0" baseline="0" dirty="0" smtClean="0">
                <a:ln>
                  <a:noFill/>
                </a:ln>
                <a:solidFill>
                  <a:srgbClr val="222222"/>
                </a:solidFill>
                <a:effectLst/>
                <a:latin typeface="Inter-Regular"/>
              </a:rPr>
              <a:t> – Drop all the rows which are duplicate.</a:t>
            </a:r>
            <a:endParaRPr kumimoji="0" lang="en-US" sz="2000" b="0" i="0" u="none" strike="noStrike" cap="none" normalizeH="0" baseline="0" dirty="0" smtClean="0">
              <a:ln>
                <a:noFill/>
              </a:ln>
              <a:solidFill>
                <a:schemeClr val="tx1"/>
              </a:solidFill>
              <a:effectLst/>
            </a:endParaRPr>
          </a:p>
        </p:txBody>
      </p:sp>
    </p:spTree>
    <p:extLst>
      <p:ext uri="{BB962C8B-B14F-4D97-AF65-F5344CB8AC3E}">
        <p14:creationId xmlns:p14="http://schemas.microsoft.com/office/powerpoint/2010/main" xmlns="" val="216090289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313899" y="260487"/>
            <a:ext cx="11327642" cy="2035657"/>
          </a:xfrm>
          <a:prstGeom prst="rect">
            <a:avLst/>
          </a:prstGeom>
          <a:solidFill>
            <a:srgbClr val="FEFEFE"/>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0" tIns="268203" rIns="0" bIns="223767"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sz="2000" b="1" i="0" u="none" strike="noStrike" cap="none" normalizeH="0" baseline="0" dirty="0" smtClean="0">
                <a:ln>
                  <a:noFill/>
                </a:ln>
                <a:solidFill>
                  <a:srgbClr val="1C2B41"/>
                </a:solidFill>
                <a:effectLst/>
                <a:latin typeface="Inter-Bold"/>
              </a:rPr>
              <a:t>Drop all duplicates</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smtClean="0">
                <a:ln>
                  <a:noFill/>
                </a:ln>
                <a:solidFill>
                  <a:srgbClr val="222222"/>
                </a:solidFill>
                <a:effectLst/>
                <a:latin typeface="Inter-Regular"/>
              </a:rPr>
              <a:t>As explained in the above section, by default, </a:t>
            </a:r>
            <a:r>
              <a:rPr kumimoji="0" lang="en-US" sz="2000" b="0" i="0" u="none" strike="noStrike" cap="none" normalizeH="0" baseline="0" dirty="0" err="1" smtClean="0">
                <a:ln>
                  <a:noFill/>
                </a:ln>
                <a:solidFill>
                  <a:srgbClr val="6C0B24"/>
                </a:solidFill>
                <a:effectLst/>
                <a:latin typeface="Consolas" panose="020B0609020204030204" pitchFamily="49" charset="0"/>
              </a:rPr>
              <a:t>DataFrame.drop_duplicates</a:t>
            </a:r>
            <a:r>
              <a:rPr kumimoji="0" lang="en-US" sz="2000" b="0" i="0" u="none" strike="noStrike" cap="none" normalizeH="0" baseline="0" dirty="0" smtClean="0">
                <a:ln>
                  <a:noFill/>
                </a:ln>
                <a:solidFill>
                  <a:srgbClr val="6C0B24"/>
                </a:solidFill>
                <a:effectLst/>
                <a:latin typeface="Consolas" panose="020B0609020204030204" pitchFamily="49" charset="0"/>
              </a:rPr>
              <a:t>()</a:t>
            </a:r>
            <a:r>
              <a:rPr kumimoji="0" lang="en-US" sz="2000" b="0" i="0" u="none" strike="noStrike" cap="none" normalizeH="0" baseline="0" dirty="0" smtClean="0">
                <a:ln>
                  <a:noFill/>
                </a:ln>
                <a:solidFill>
                  <a:srgbClr val="222222"/>
                </a:solidFill>
                <a:effectLst/>
                <a:latin typeface="Inter-Regular"/>
              </a:rPr>
              <a:t> keeps the duplicate row’s first occurrence and removes all others.</a:t>
            </a:r>
            <a:endParaRPr kumimoji="0" lang="en-US" sz="2000" b="0" i="0" u="none" strike="noStrike" cap="none" normalizeH="0" baseline="0" dirty="0" smtClean="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smtClean="0">
                <a:ln>
                  <a:noFill/>
                </a:ln>
                <a:solidFill>
                  <a:srgbClr val="222222"/>
                </a:solidFill>
                <a:effectLst/>
                <a:latin typeface="Inter-Regular"/>
              </a:rPr>
              <a:t>If we need to drop all the duplicate rows, then it can be done by using </a:t>
            </a:r>
            <a:r>
              <a:rPr kumimoji="0" lang="en-US" sz="2000" b="0" i="0" u="none" strike="noStrike" cap="none" normalizeH="0" baseline="0" dirty="0" smtClean="0">
                <a:ln>
                  <a:noFill/>
                </a:ln>
                <a:solidFill>
                  <a:srgbClr val="6C0B24"/>
                </a:solidFill>
                <a:effectLst/>
                <a:latin typeface="Consolas" panose="020B0609020204030204" pitchFamily="49" charset="0"/>
              </a:rPr>
              <a:t>keep=False</a:t>
            </a:r>
            <a:r>
              <a:rPr kumimoji="0" lang="en-US" sz="2000" b="0" i="0" u="none" strike="noStrike" cap="none" normalizeH="0" baseline="0" dirty="0" smtClean="0">
                <a:ln>
                  <a:noFill/>
                </a:ln>
                <a:solidFill>
                  <a:srgbClr val="222222"/>
                </a:solidFill>
                <a:effectLst/>
                <a:latin typeface="Inter-Regular"/>
              </a:rPr>
              <a:t>, as shown below.</a:t>
            </a:r>
            <a:endParaRPr kumimoji="0" lang="en-US" sz="2000" b="0" i="0" u="none" strike="noStrike" cap="none" normalizeH="0" baseline="0" dirty="0" smtClean="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2000" b="1" i="0" u="none" strike="noStrike" cap="none" normalizeH="0" baseline="0" dirty="0" smtClean="0">
                <a:ln>
                  <a:noFill/>
                </a:ln>
                <a:solidFill>
                  <a:srgbClr val="222222"/>
                </a:solidFill>
                <a:effectLst/>
                <a:latin typeface="Inter-Regular"/>
              </a:rPr>
              <a:t>Example</a:t>
            </a:r>
            <a:r>
              <a:rPr kumimoji="0" lang="en-US" sz="2000" b="0" i="0" u="none" strike="noStrike" cap="none" normalizeH="0" baseline="0" dirty="0" smtClean="0">
                <a:ln>
                  <a:noFill/>
                </a:ln>
                <a:solidFill>
                  <a:srgbClr val="222222"/>
                </a:solidFill>
                <a:effectLst/>
                <a:latin typeface="Inter-Regular"/>
              </a:rPr>
              <a:t>                             </a:t>
            </a:r>
          </a:p>
        </p:txBody>
      </p:sp>
      <p:pic>
        <p:nvPicPr>
          <p:cNvPr id="4098" name="Picture 2" descr="Drop All duplicates"/>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4463730" y="2603357"/>
            <a:ext cx="3809230" cy="3401658"/>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35131626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136478" y="126186"/>
            <a:ext cx="11873552" cy="2748096"/>
          </a:xfrm>
          <a:prstGeom prst="rect">
            <a:avLst/>
          </a:prstGeom>
          <a:solidFill>
            <a:srgbClr val="F9F2F4"/>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0" tIns="268203" rIns="0" bIns="223767"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50000"/>
              </a:lnSpc>
              <a:spcBef>
                <a:spcPct val="0"/>
              </a:spcBef>
              <a:spcAft>
                <a:spcPct val="0"/>
              </a:spcAft>
              <a:buClrTx/>
              <a:buSzTx/>
              <a:buFontTx/>
              <a:buNone/>
              <a:tabLst/>
            </a:pPr>
            <a:r>
              <a:rPr kumimoji="0" lang="en-US" sz="2000" b="1" i="0" u="none" strike="noStrike" cap="none" normalizeH="0" baseline="0" smtClean="0">
                <a:ln>
                  <a:noFill/>
                </a:ln>
                <a:solidFill>
                  <a:srgbClr val="1C2B41"/>
                </a:solidFill>
                <a:effectLst/>
                <a:latin typeface="Inter-Bold"/>
              </a:rPr>
              <a:t>Drop duplicates in place</a:t>
            </a: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sz="2000" b="0" i="0" u="none" strike="noStrike" cap="none" normalizeH="0" baseline="0" smtClean="0">
                <a:ln>
                  <a:noFill/>
                </a:ln>
                <a:solidFill>
                  <a:srgbClr val="222222"/>
                </a:solidFill>
                <a:effectLst/>
                <a:latin typeface="Inter-Regular"/>
              </a:rPr>
              <a:t>By default, </a:t>
            </a:r>
            <a:r>
              <a:rPr kumimoji="0" lang="en-US" sz="2000" b="0" i="0" u="none" strike="noStrike" cap="none" normalizeH="0" baseline="0" smtClean="0">
                <a:ln>
                  <a:noFill/>
                </a:ln>
                <a:solidFill>
                  <a:srgbClr val="6C0B24"/>
                </a:solidFill>
                <a:effectLst/>
                <a:latin typeface="Consolas" panose="020B0609020204030204" pitchFamily="49" charset="0"/>
              </a:rPr>
              <a:t>DataFrame.drop_duplicates()</a:t>
            </a:r>
            <a:r>
              <a:rPr kumimoji="0" lang="en-US" sz="2000" b="0" i="0" u="none" strike="noStrike" cap="none" normalizeH="0" baseline="0" smtClean="0">
                <a:ln>
                  <a:noFill/>
                </a:ln>
                <a:solidFill>
                  <a:srgbClr val="222222"/>
                </a:solidFill>
                <a:effectLst/>
                <a:latin typeface="Inter-Regular"/>
              </a:rPr>
              <a:t> removes the duplicates and returns the copy of the DataFrame.</a:t>
            </a:r>
            <a:endParaRPr kumimoji="0" lang="en-US" sz="2000" b="0" i="0" u="none" strike="noStrike" cap="none" normalizeH="0" baseline="0" smtClean="0">
              <a:ln>
                <a:noFill/>
              </a:ln>
              <a:solidFill>
                <a:schemeClr val="tx1"/>
              </a:solidFill>
              <a:effectLst/>
            </a:endParaRP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sz="2000" b="0" i="0" u="none" strike="noStrike" cap="none" normalizeH="0" baseline="0" smtClean="0">
                <a:ln>
                  <a:noFill/>
                </a:ln>
                <a:solidFill>
                  <a:srgbClr val="222222"/>
                </a:solidFill>
                <a:effectLst/>
                <a:latin typeface="Inter-Regular"/>
              </a:rPr>
              <a:t>But, if we want to make changes in the existing DataFrame, then set the flag </a:t>
            </a:r>
            <a:r>
              <a:rPr kumimoji="0" lang="en-US" sz="2000" b="0" i="0" u="none" strike="noStrike" cap="none" normalizeH="0" baseline="0" smtClean="0">
                <a:ln>
                  <a:noFill/>
                </a:ln>
                <a:solidFill>
                  <a:srgbClr val="6C0B24"/>
                </a:solidFill>
                <a:effectLst/>
                <a:latin typeface="Consolas" panose="020B0609020204030204" pitchFamily="49" charset="0"/>
              </a:rPr>
              <a:t>inplace=True</a:t>
            </a:r>
            <a:r>
              <a:rPr kumimoji="0" lang="en-US" sz="2000" b="0" i="0" u="none" strike="noStrike" cap="none" normalizeH="0" baseline="0" smtClean="0">
                <a:ln>
                  <a:noFill/>
                </a:ln>
                <a:solidFill>
                  <a:srgbClr val="222222"/>
                </a:solidFill>
                <a:effectLst/>
                <a:latin typeface="Inter-Regular"/>
              </a:rPr>
              <a:t>. It can be used when the drop operation is part of the function chaining.</a:t>
            </a:r>
            <a:endParaRPr kumimoji="0" lang="en-US" sz="2000" b="0" i="0" u="none" strike="noStrike" cap="none" normalizeH="0" baseline="0" smtClean="0">
              <a:ln>
                <a:noFill/>
              </a:ln>
              <a:solidFill>
                <a:schemeClr val="tx1"/>
              </a:solidFill>
              <a:effectLst/>
            </a:endParaRPr>
          </a:p>
        </p:txBody>
      </p:sp>
    </p:spTree>
    <p:extLst>
      <p:ext uri="{BB962C8B-B14F-4D97-AF65-F5344CB8AC3E}">
        <p14:creationId xmlns:p14="http://schemas.microsoft.com/office/powerpoint/2010/main" xmlns="" val="35941493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163776" y="215269"/>
            <a:ext cx="11807623" cy="2900032"/>
          </a:xfrm>
          <a:prstGeom prst="rect">
            <a:avLst/>
          </a:prstGeom>
          <a:solidFill>
            <a:srgbClr val="FEFEFE"/>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357075" tIns="0" rIns="0" bIns="179331"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50000"/>
              </a:lnSpc>
              <a:spcBef>
                <a:spcPct val="0"/>
              </a:spcBef>
              <a:spcAft>
                <a:spcPct val="0"/>
              </a:spcAft>
              <a:buClrTx/>
              <a:buSzTx/>
              <a:buFontTx/>
              <a:buNone/>
              <a:tabLst/>
            </a:pPr>
            <a:r>
              <a:rPr kumimoji="0" lang="en-US" sz="2000" b="1" i="0" u="none" strike="noStrike" cap="none" normalizeH="0" baseline="0" dirty="0" smtClean="0">
                <a:ln>
                  <a:noFill/>
                </a:ln>
                <a:solidFill>
                  <a:srgbClr val="1C2B41"/>
                </a:solidFill>
                <a:effectLst/>
                <a:latin typeface="Inter-Bold"/>
              </a:rPr>
              <a:t>Drop duplicates and reset the index</a:t>
            </a: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sz="2000" b="0" i="0" u="none" strike="noStrike" cap="none" normalizeH="0" baseline="0" dirty="0" smtClean="0">
                <a:ln>
                  <a:noFill/>
                </a:ln>
                <a:solidFill>
                  <a:srgbClr val="222222"/>
                </a:solidFill>
                <a:effectLst/>
                <a:latin typeface="Inter-Regular"/>
              </a:rPr>
              <a:t>When we drop the rows from </a:t>
            </a:r>
            <a:r>
              <a:rPr kumimoji="0" lang="en-US" sz="2000" b="0" i="0" u="none" strike="noStrike" cap="none" normalizeH="0" baseline="0" dirty="0" err="1" smtClean="0">
                <a:ln>
                  <a:noFill/>
                </a:ln>
                <a:solidFill>
                  <a:srgbClr val="222222"/>
                </a:solidFill>
                <a:effectLst/>
                <a:latin typeface="Inter-Regular"/>
              </a:rPr>
              <a:t>DataFrame</a:t>
            </a:r>
            <a:r>
              <a:rPr kumimoji="0" lang="en-US" sz="2000" b="0" i="0" u="none" strike="noStrike" cap="none" normalizeH="0" baseline="0" dirty="0" smtClean="0">
                <a:ln>
                  <a:noFill/>
                </a:ln>
                <a:solidFill>
                  <a:srgbClr val="222222"/>
                </a:solidFill>
                <a:effectLst/>
                <a:latin typeface="Inter-Regular"/>
              </a:rPr>
              <a:t>, by default, it keeps the original row index as is. But, if we need to reset the index of the resultant </a:t>
            </a:r>
            <a:r>
              <a:rPr kumimoji="0" lang="en-US" sz="2000" b="0" i="0" u="none" strike="noStrike" cap="none" normalizeH="0" baseline="0" dirty="0" err="1" smtClean="0">
                <a:ln>
                  <a:noFill/>
                </a:ln>
                <a:solidFill>
                  <a:srgbClr val="222222"/>
                </a:solidFill>
                <a:effectLst/>
                <a:latin typeface="Inter-Regular"/>
              </a:rPr>
              <a:t>DataFrame</a:t>
            </a:r>
            <a:r>
              <a:rPr kumimoji="0" lang="en-US" sz="2000" b="0" i="0" u="none" strike="noStrike" cap="none" normalizeH="0" baseline="0" dirty="0" smtClean="0">
                <a:ln>
                  <a:noFill/>
                </a:ln>
                <a:solidFill>
                  <a:srgbClr val="222222"/>
                </a:solidFill>
                <a:effectLst/>
                <a:latin typeface="Inter-Regular"/>
              </a:rPr>
              <a:t>, we can do that using the </a:t>
            </a:r>
            <a:r>
              <a:rPr kumimoji="0" lang="en-US" sz="2000" b="0" i="0" u="none" strike="noStrike" cap="none" normalizeH="0" baseline="0" dirty="0" err="1" smtClean="0">
                <a:ln>
                  <a:noFill/>
                </a:ln>
                <a:solidFill>
                  <a:srgbClr val="6C0B24"/>
                </a:solidFill>
                <a:effectLst/>
                <a:latin typeface="Consolas" panose="020B0609020204030204" pitchFamily="49" charset="0"/>
              </a:rPr>
              <a:t>ignore_index</a:t>
            </a:r>
            <a:r>
              <a:rPr kumimoji="0" lang="en-US" sz="2000" b="0" i="0" u="none" strike="noStrike" cap="none" normalizeH="0" baseline="0" dirty="0" smtClean="0">
                <a:ln>
                  <a:noFill/>
                </a:ln>
                <a:solidFill>
                  <a:srgbClr val="222222"/>
                </a:solidFill>
                <a:effectLst/>
                <a:latin typeface="Inter-Regular"/>
              </a:rPr>
              <a:t> parameter of </a:t>
            </a:r>
            <a:r>
              <a:rPr kumimoji="0" lang="en-US" sz="2000" b="0" i="0" u="none" strike="noStrike" cap="none" normalizeH="0" baseline="0" dirty="0" err="1" smtClean="0">
                <a:ln>
                  <a:noFill/>
                </a:ln>
                <a:solidFill>
                  <a:srgbClr val="6C0B24"/>
                </a:solidFill>
                <a:effectLst/>
                <a:latin typeface="Consolas" panose="020B0609020204030204" pitchFamily="49" charset="0"/>
              </a:rPr>
              <a:t>DataFrame.drop_duplicate</a:t>
            </a:r>
            <a:r>
              <a:rPr kumimoji="0" lang="en-US" sz="2000" b="0" i="0" u="none" strike="noStrike" cap="none" normalizeH="0" baseline="0" dirty="0" smtClean="0">
                <a:ln>
                  <a:noFill/>
                </a:ln>
                <a:solidFill>
                  <a:srgbClr val="6C0B24"/>
                </a:solidFill>
                <a:effectLst/>
                <a:latin typeface="Consolas" panose="020B0609020204030204" pitchFamily="49" charset="0"/>
              </a:rPr>
              <a:t>()</a:t>
            </a:r>
            <a:r>
              <a:rPr kumimoji="0" lang="en-US" sz="2000" b="0" i="0" u="none" strike="noStrike" cap="none" normalizeH="0" baseline="0" dirty="0" smtClean="0">
                <a:ln>
                  <a:noFill/>
                </a:ln>
                <a:solidFill>
                  <a:srgbClr val="222222"/>
                </a:solidFill>
                <a:effectLst/>
                <a:latin typeface="Inter-Regular"/>
              </a:rPr>
              <a:t>.</a:t>
            </a:r>
            <a:endParaRPr kumimoji="0" lang="en-US" sz="2000" b="0" i="0" u="none" strike="noStrike" cap="none" normalizeH="0" baseline="0" dirty="0" smtClean="0">
              <a:ln>
                <a:noFill/>
              </a:ln>
              <a:solidFill>
                <a:schemeClr val="tx1"/>
              </a:solidFill>
              <a:effectLst/>
            </a:endParaRP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sz="2000" b="0" i="0" u="none" strike="noStrike" cap="none" normalizeH="0" baseline="0" dirty="0" smtClean="0">
                <a:ln>
                  <a:noFill/>
                </a:ln>
                <a:solidFill>
                  <a:srgbClr val="222222"/>
                </a:solidFill>
                <a:effectLst/>
                <a:latin typeface="Inter-Regular"/>
              </a:rPr>
              <a:t>If </a:t>
            </a:r>
            <a:r>
              <a:rPr kumimoji="0" lang="en-US" sz="2000" b="0" i="0" u="none" strike="noStrike" cap="none" normalizeH="0" baseline="0" dirty="0" err="1" smtClean="0">
                <a:ln>
                  <a:noFill/>
                </a:ln>
                <a:solidFill>
                  <a:srgbClr val="6C0B24"/>
                </a:solidFill>
                <a:effectLst/>
                <a:latin typeface="Consolas" panose="020B0609020204030204" pitchFamily="49" charset="0"/>
              </a:rPr>
              <a:t>ignore_index</a:t>
            </a:r>
            <a:r>
              <a:rPr kumimoji="0" lang="en-US" sz="2000" b="0" i="0" u="none" strike="noStrike" cap="none" normalizeH="0" baseline="0" dirty="0" smtClean="0">
                <a:ln>
                  <a:noFill/>
                </a:ln>
                <a:solidFill>
                  <a:srgbClr val="6C0B24"/>
                </a:solidFill>
                <a:effectLst/>
                <a:latin typeface="Consolas" panose="020B0609020204030204" pitchFamily="49" charset="0"/>
              </a:rPr>
              <a:t>=True</a:t>
            </a:r>
            <a:r>
              <a:rPr kumimoji="0" lang="en-US" sz="2000" b="0" i="0" u="none" strike="noStrike" cap="none" normalizeH="0" baseline="0" dirty="0" smtClean="0">
                <a:ln>
                  <a:noFill/>
                </a:ln>
                <a:solidFill>
                  <a:srgbClr val="222222"/>
                </a:solidFill>
                <a:effectLst/>
                <a:latin typeface="Inter-Regular"/>
              </a:rPr>
              <a:t>, it reset the row labels of resultant </a:t>
            </a:r>
            <a:r>
              <a:rPr kumimoji="0" lang="en-US" sz="2000" b="0" i="0" u="none" strike="noStrike" cap="none" normalizeH="0" baseline="0" dirty="0" err="1" smtClean="0">
                <a:ln>
                  <a:noFill/>
                </a:ln>
                <a:solidFill>
                  <a:srgbClr val="222222"/>
                </a:solidFill>
                <a:effectLst/>
                <a:latin typeface="Inter-Regular"/>
              </a:rPr>
              <a:t>DataFrame</a:t>
            </a:r>
            <a:r>
              <a:rPr kumimoji="0" lang="en-US" sz="2000" b="0" i="0" u="none" strike="noStrike" cap="none" normalizeH="0" baseline="0" dirty="0" smtClean="0">
                <a:ln>
                  <a:noFill/>
                </a:ln>
                <a:solidFill>
                  <a:srgbClr val="222222"/>
                </a:solidFill>
                <a:effectLst/>
                <a:latin typeface="Inter-Regular"/>
              </a:rPr>
              <a:t> to 0, 1, …, n – 1.</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sz="2000" b="0" i="0" u="none" strike="noStrike" cap="none" normalizeH="0" baseline="0" dirty="0" smtClean="0">
                <a:ln>
                  <a:noFill/>
                </a:ln>
                <a:solidFill>
                  <a:srgbClr val="222222"/>
                </a:solidFill>
                <a:effectLst/>
                <a:latin typeface="Inter-Regular"/>
              </a:rPr>
              <a:t>If </a:t>
            </a:r>
            <a:r>
              <a:rPr kumimoji="0" lang="en-US" sz="2000" b="0" i="0" u="none" strike="noStrike" cap="none" normalizeH="0" baseline="0" dirty="0" err="1" smtClean="0">
                <a:ln>
                  <a:noFill/>
                </a:ln>
                <a:solidFill>
                  <a:srgbClr val="6C0B24"/>
                </a:solidFill>
                <a:effectLst/>
                <a:latin typeface="Consolas" panose="020B0609020204030204" pitchFamily="49" charset="0"/>
              </a:rPr>
              <a:t>ignore_index</a:t>
            </a:r>
            <a:r>
              <a:rPr kumimoji="0" lang="en-US" sz="2000" b="0" i="0" u="none" strike="noStrike" cap="none" normalizeH="0" baseline="0" dirty="0" smtClean="0">
                <a:ln>
                  <a:noFill/>
                </a:ln>
                <a:solidFill>
                  <a:srgbClr val="6C0B24"/>
                </a:solidFill>
                <a:effectLst/>
                <a:latin typeface="Consolas" panose="020B0609020204030204" pitchFamily="49" charset="0"/>
              </a:rPr>
              <a:t>=False</a:t>
            </a:r>
            <a:r>
              <a:rPr kumimoji="0" lang="en-US" sz="2000" b="0" i="0" u="none" strike="noStrike" cap="none" normalizeH="0" baseline="0" dirty="0" smtClean="0">
                <a:ln>
                  <a:noFill/>
                </a:ln>
                <a:solidFill>
                  <a:srgbClr val="222222"/>
                </a:solidFill>
                <a:effectLst/>
                <a:latin typeface="Inter-Regular"/>
              </a:rPr>
              <a:t> it does not change the original row index. By default, it is </a:t>
            </a:r>
            <a:r>
              <a:rPr kumimoji="0" lang="en-US" sz="2000" b="1" i="0" u="none" strike="noStrike" cap="none" normalizeH="0" baseline="0" dirty="0" smtClean="0">
                <a:ln>
                  <a:noFill/>
                </a:ln>
                <a:solidFill>
                  <a:srgbClr val="222222"/>
                </a:solidFill>
                <a:effectLst/>
                <a:latin typeface="Inter-Regular"/>
              </a:rPr>
              <a:t>False</a:t>
            </a:r>
            <a:r>
              <a:rPr kumimoji="0" lang="en-US" sz="2000" b="0" i="0" u="none" strike="noStrike" cap="none" normalizeH="0" baseline="0" dirty="0" smtClean="0">
                <a:ln>
                  <a:noFill/>
                </a:ln>
                <a:solidFill>
                  <a:srgbClr val="222222"/>
                </a:solidFill>
                <a:effectLst/>
                <a:latin typeface="Inter-Regular"/>
              </a:rPr>
              <a:t>.</a:t>
            </a:r>
          </a:p>
        </p:txBody>
      </p:sp>
    </p:spTree>
    <p:extLst>
      <p:ext uri="{BB962C8B-B14F-4D97-AF65-F5344CB8AC3E}">
        <p14:creationId xmlns:p14="http://schemas.microsoft.com/office/powerpoint/2010/main" xmlns="" val="8255894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971</TotalTime>
  <Words>847</Words>
  <Application>Microsoft Office PowerPoint</Application>
  <PresentationFormat>Custom</PresentationFormat>
  <Paragraphs>139</Paragraphs>
  <Slides>29</Slides>
  <Notes>0</Notes>
  <HiddenSlides>0</HiddenSlides>
  <MMClips>0</MMClips>
  <ScaleCrop>false</ScaleCrop>
  <HeadingPairs>
    <vt:vector size="4" baseType="variant">
      <vt:variant>
        <vt:lpstr>Theme</vt:lpstr>
      </vt:variant>
      <vt:variant>
        <vt:i4>1</vt:i4>
      </vt:variant>
      <vt:variant>
        <vt:lpstr>Slide Titles</vt:lpstr>
      </vt:variant>
      <vt:variant>
        <vt:i4>29</vt:i4>
      </vt:variant>
    </vt:vector>
  </HeadingPairs>
  <TitlesOfParts>
    <vt:vector size="30"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Food</dc:creator>
  <cp:lastModifiedBy>lenovo</cp:lastModifiedBy>
  <cp:revision>26</cp:revision>
  <dcterms:created xsi:type="dcterms:W3CDTF">2024-01-29T11:13:35Z</dcterms:created>
  <dcterms:modified xsi:type="dcterms:W3CDTF">2024-10-14T18:58:22Z</dcterms:modified>
</cp:coreProperties>
</file>